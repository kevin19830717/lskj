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60" r:id="rId6"/>
    <p:sldId id="259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 type="screen16x9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3" name=""/>
        <p:cNvGrpSpPr/>
        <p:nvPr/>
      </p:nvGrpSpPr>
      <p:grpSpPr/>
      <p:sp>
        <p:nvSpPr>
          <p:cNvPr id="1048841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048842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048843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048844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048845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p/>
        </p:txBody>
      </p:sp>
      <p:sp>
        <p:nvSpPr>
          <p:cNvPr id="1048846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/>
      <p:sp>
        <p:nvSpPr>
          <p:cNvPr id="1048584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58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【第1页 · 开场 · 20秒 | 累计0:20】</a:t>
            </a:r>
          </a:p>
          <a:p>
            <a:r>
              <a:t>各位评委老师好，我们是膳衡智枢团队。我们的作品是一台基于物联网的智能饮食健康秤——它最核心的理念是：信息随烹饪动作自然生成，用户不需要"记录"，每一餐就自然沉淀为健康数据。下面用五分钟汇报我们的思考与实践。</a:t>
            </a:r>
          </a:p>
          <a:p/>
          <a:p>
            <a:r>
              <a:t>（提示：语速放稳，报团队名和作品名时看评委，这句话定下全场基调。）</a:t>
            </a:r>
          </a:p>
          <a:p/>
          <a:p>
            <a:r>
              <a:t>[Sources]</a:t>
            </a:r>
          </a:p>
          <a:p>
            <a:r>
              <a:t>- 实机画面：D:/文档/物赛/食材_番茄炒蛋.mp4</a:t>
            </a:r>
          </a:p>
          <a:p>
            <a:r>
              <a:t>- 团队与作品信息：竞赛设计文档</a:t>
            </a:r>
          </a:p>
        </p:txBody>
      </p:sp>
      <p:sp>
        <p:nvSpPr>
          <p:cNvPr id="104858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/>
      <p:sp>
        <p:nvSpPr>
          <p:cNvPr id="1048611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61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【第2页 · 刚需问题 · 30秒 | 累计0:50】</a:t>
            </a:r>
          </a:p>
          <a:p>
            <a:r>
              <a:t>我们先回答"谁、有什么刚需"。减脂、控糖、健身增肌的人群，不是不关心健康，而是记录成本太高：要搜索准确食材名称、要凭经验估算克数、还要逐项手动录入——用户必须先把一餐"翻译"成数据。这个门槛看起来小，但每天都在发生，绝大多数人坚持不过两周。记录一旦中断，后面所有的饮食管理都无从谈起。所以刚需不是"又一个计算热量的工具"，而是把记录成本降到接近零。</a:t>
            </a:r>
          </a:p>
          <a:p/>
          <a:p>
            <a:r>
              <a:t>（提示：三个痛点01/02/03用手指依次点一下，最后一句加重语气。）</a:t>
            </a:r>
          </a:p>
          <a:p/>
          <a:p>
            <a:r>
              <a:t>[Sources]</a:t>
            </a:r>
          </a:p>
          <a:p>
            <a:r>
              <a:t>- 用户痛点：竞赛设计文档第1章</a:t>
            </a:r>
          </a:p>
          <a:p>
            <a:r>
              <a:t>- 目标场景：项目作品创意表</a:t>
            </a:r>
          </a:p>
        </p:txBody>
      </p:sp>
      <p:sp>
        <p:nvSpPr>
          <p:cNvPr id="1048613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/>
      <p:sp>
        <p:nvSpPr>
          <p:cNvPr id="1048660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66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【第3页 · 整体方案 · 30秒 | 累计1:20】</a:t>
            </a:r>
          </a:p>
          <a:p>
            <a:r>
              <a:t>我们的方案是把用户的操作压缩成四个本来就存在的厨房动作：放、称、选、得。食材放上秤，摄像头识别是什么，HX711称出实际有多重，用户只需在触控屏上补一个烹饪方式，端侧立即输出完整营养结果。这里有一个关键设计：重量是硬件实测的确定性数据，摄像头只负责"是什么"，秤负责"有多少"——营养计算的精度不依赖用户经验，也不依赖视觉估算。</a:t>
            </a:r>
          </a:p>
          <a:p/>
          <a:p>
            <a:r>
              <a:t>（提示："是什么/有多少"这句是后面评委追问品种差异时的伏笔，讲清楚。此处如评委后续问"大小橘子营养差很多怎么办"，答：重量是我们实测的，营养按实际克数计算，品种只影响单位营养密度，量是准的。）</a:t>
            </a:r>
          </a:p>
          <a:p/>
          <a:p>
            <a:r>
              <a:t>[Sources]</a:t>
            </a:r>
          </a:p>
          <a:p>
            <a:r>
              <a:t>- 实机画面：D:/文档/物赛/食材_番茄炒蛋.mp4</a:t>
            </a:r>
          </a:p>
          <a:p>
            <a:r>
              <a:t>- 业务流程：最终工程README</a:t>
            </a:r>
          </a:p>
        </p:txBody>
      </p:sp>
      <p:sp>
        <p:nvSpPr>
          <p:cNvPr id="104866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/>
      <p:sp>
        <p:nvSpPr>
          <p:cNvPr id="1048633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63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【第4页 · 物·硬件终端 · 25秒 | 累计1:45】</a:t>
            </a:r>
          </a:p>
          <a:p>
            <a:r>
              <a:t>物联网里的"物"，是这台感知终端。主控ESP32-P4，360MHz双核RISC-V处理器；摄像头跑YOLO11n做端侧食材识别；HX711配合24位ADC做精确称重；480×640触控屏完成交互与结果呈现。多种传感器在本地融合，识别、称量、计算全部就地完成，不依赖网络也能出结果。</a:t>
            </a:r>
          </a:p>
          <a:p/>
          <a:p>
            <a:r>
              <a:t>（提示：如有实物，此处可抬手示意实机；"不依赖网络"是关键卖点。）</a:t>
            </a:r>
          </a:p>
          <a:p/>
          <a:p>
            <a:r>
              <a:t>[Sources]</a:t>
            </a:r>
          </a:p>
          <a:p>
            <a:r>
              <a:t>- 硬件规格：最终工程README</a:t>
            </a:r>
          </a:p>
          <a:p>
            <a:r>
              <a:t>- 整机照片：D:/文档/物赛/外部拆解.png、内部拆解.png</a:t>
            </a:r>
          </a:p>
        </p:txBody>
      </p:sp>
      <p:sp>
        <p:nvSpPr>
          <p:cNvPr id="1048635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/>
      <p:sp>
        <p:nvSpPr>
          <p:cNvPr id="1048727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72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【第5页 · 端云闭环 · 25秒 | 累计2:10】</a:t>
            </a:r>
          </a:p>
          <a:p>
            <a:r>
              <a:t>完整链路五步闭环：设备感知、端侧计算、云端沉淀、AI赋能、用户查看。实时性敏感的闭环留在端侧，毫秒级出结果；长期认知交给云端——Go后端加Python RAG服务，数据落在PostgreSQL并做分层聚合。这样每一餐不止被记录一次，还会持续进入后续的分析与规划。</a:t>
            </a:r>
          </a:p>
          <a:p/>
          <a:p>
            <a:r>
              <a:t>（提示：五个步骤沿流程图手势从左到右带一遍，节奏加快，为第6页留时间。）</a:t>
            </a:r>
          </a:p>
          <a:p/>
          <a:p>
            <a:r>
              <a:t>[Sources]</a:t>
            </a:r>
          </a:p>
          <a:p>
            <a:r>
              <a:t>- 数据流：竞赛设计文档第3章与第4章</a:t>
            </a:r>
          </a:p>
          <a:p>
            <a:r>
              <a:t>- 云端功能：D:/文档/物赛/云端功能演示.mp4</a:t>
            </a:r>
          </a:p>
        </p:txBody>
      </p:sp>
      <p:sp>
        <p:nvSpPr>
          <p:cNvPr id="1048729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/>
      <p:sp>
        <p:nvSpPr>
          <p:cNvPr id="1048754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7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【第6页 · 针对性创新 · 70秒（全场重点） | 累计3:20】</a:t>
            </a:r>
          </a:p>
          <a:p>
            <a:r>
              <a:t>第六页是我们最想讲的：创新不是堆技术，而是把计算放在合适的位置。</a:t>
            </a:r>
          </a:p>
          <a:p>
            <a:r>
              <a:t>第一，端侧保即时。YOLO识别和LightGBM营养评估模型全部本地联动，单次营养推理实测约42毫秒，不等待任何网络往返——"无感记录"的底气来自这里。</a:t>
            </a:r>
          </a:p>
          <a:p>
            <a:r>
              <a:t>第二，为嵌入式做真优化。LightGBM模型文件29MB，在单片机上裸加载要7.8秒；我们把模型离线转换成二进制树表，加载时间降到6.36毫秒，提升一千两百多倍，且树结构和计算路径完全不变，零精度损失——这是针对物联网设备专门做的工程落地，不是调个API。</a:t>
            </a:r>
          </a:p>
          <a:p>
            <a:r>
              <a:t>第三，云端保全面。长期档案、RAG知识检索、大模型个性化规划放在云端，算力和数据随需要扩展，我们接入了通义千问大模型完成多模态识别与健康建议生成。</a:t>
            </a:r>
          </a:p>
          <a:p>
            <a:r>
              <a:t>第四，动作即数据。放、称、选天然完成采集，用户不改变任何习惯。</a:t>
            </a:r>
          </a:p>
          <a:p>
            <a:r>
              <a:t>第五，分层归档。日、周、月、年四级报告自动聚合，数据长期可追溯。</a:t>
            </a:r>
          </a:p>
          <a:p>
            <a:r>
              <a:t>一句话总结：端侧保证即时体验，云端承接长期认知。</a:t>
            </a:r>
          </a:p>
          <a:p/>
          <a:p>
            <a:r>
              <a:t>（提示：本页是全场核心，语速可稍慢。42毫秒、7.8秒到6.36毫秒这两个数字务必清晰报出，这是评委记住你的点。讲"零精度损失"时可以稍停半秒。）</a:t>
            </a:r>
          </a:p>
          <a:p/>
          <a:p>
            <a:r>
              <a:t>[Sources]</a:t>
            </a:r>
          </a:p>
          <a:p>
            <a:r>
              <a:t>- 板端实测日志：LightGBM营养模型推理约42ms</a:t>
            </a:r>
          </a:p>
          <a:p>
            <a:r>
              <a:t>- 模型加载实测：7805.18ms降至6.36ms</a:t>
            </a:r>
          </a:p>
          <a:p>
            <a:r>
              <a:t>- 优化实现：最终工程营养推理组件</a:t>
            </a:r>
          </a:p>
        </p:txBody>
      </p:sp>
      <p:sp>
        <p:nvSpPr>
          <p:cNvPr id="104875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/>
      <p:sp>
        <p:nvSpPr>
          <p:cNvPr id="1048771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77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【第7页 · 数据看板 · 20秒 | 累计3:40】</a:t>
            </a:r>
          </a:p>
          <a:p>
            <a:r>
              <a:t>设备上传的每一餐不会停留在一次性结果。这是真实运行的界面：近期热量、蛋白质、脂肪、碳水以及常吃食物自动汇总，饮食结构一眼可见。单次结果由此变成持续可读的数据资产。</a:t>
            </a:r>
          </a:p>
          <a:p/>
          <a:p>
            <a:r>
              <a:t>（提示：指屏幕截图即可，不逐项念数字。）</a:t>
            </a:r>
          </a:p>
          <a:p/>
          <a:p>
            <a:r>
              <a:t>[Sources]</a:t>
            </a:r>
          </a:p>
          <a:p>
            <a:r>
              <a:t>- D:/文档/物赛/云端1;近期营养数据.png</a:t>
            </a:r>
          </a:p>
        </p:txBody>
      </p:sp>
      <p:sp>
        <p:nvSpPr>
          <p:cNvPr id="1048773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/>
      <p:sp>
        <p:nvSpPr>
          <p:cNvPr id="1048788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78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【第8页 · 营养报告 · 15秒 | 累计3:55】</a:t>
            </a:r>
          </a:p>
          <a:p>
            <a:r>
              <a:t>数据持续积累后，系统按日、周、月、年自动生成营养报告——趋势、分布、常吃食物和阶段性建议都是自动聚合的，用户不需要做任何整理。</a:t>
            </a:r>
          </a:p>
          <a:p/>
          <a:p>
            <a:r>
              <a:t>（提示：快速带过，把时间留给第9页。）</a:t>
            </a:r>
          </a:p>
          <a:p/>
          <a:p>
            <a:r>
              <a:t>[Sources]</a:t>
            </a:r>
          </a:p>
          <a:p>
            <a:r>
              <a:t>- D:/文档/物赛/云端2：营养分析报告.png</a:t>
            </a:r>
          </a:p>
        </p:txBody>
      </p:sp>
      <p:sp>
        <p:nvSpPr>
          <p:cNvPr id="104879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/>
      <p:sp>
        <p:nvSpPr>
          <p:cNvPr id="1048805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80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【第9页 · AI健康助手 · 25秒 | 累计4:20】</a:t>
            </a:r>
          </a:p>
          <a:p>
            <a:r>
              <a:t>这个AI助手不是通用聊天窗口。RAG服务会先检索三类数据——个人健康档案、近期餐食记录、营养知识库，基于检索结果再生成回答，建议有依据、因人而异。快速模式回答日常问题，专家模式结合长期记录给出更完整的解释与规划。</a:t>
            </a:r>
          </a:p>
          <a:p/>
          <a:p>
            <a:r>
              <a:t>（提示："三类数据"用手指计数；强调"有依据"三个字。）</a:t>
            </a:r>
          </a:p>
          <a:p/>
          <a:p>
            <a:r>
              <a:t>[Sources]</a:t>
            </a:r>
          </a:p>
          <a:p>
            <a:r>
              <a:t>- D:/文档/物赛/云端3;AI健康助手.png</a:t>
            </a:r>
          </a:p>
        </p:txBody>
      </p:sp>
      <p:sp>
        <p:nvSpPr>
          <p:cNvPr id="1048807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/>
      <p:sp>
        <p:nvSpPr>
          <p:cNvPr id="104882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8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【第10页 · 移动补录 · 20秒 | 累计4:40】</a:t>
            </a:r>
          </a:p>
          <a:p>
            <a:r>
              <a:t>智能秤覆盖日常无感记录，手机端补齐外食和成品菜的边界场景：拍一张菜品照片，云端识别名称、估算重量、给出完整营养，汇入同一份健康档案。这条云端视觉链路我们做了工程优化——图片压缩加推理策略调优，响应从五十多秒降到三秒左右。</a:t>
            </a:r>
          </a:p>
          <a:p/>
          <a:p>
            <a:r>
              <a:t>（提示：52秒到3秒是加分项，若时间紧可只说"秒级响应"。）</a:t>
            </a:r>
          </a:p>
          <a:p/>
          <a:p>
            <a:r>
              <a:t>[Sources]</a:t>
            </a:r>
          </a:p>
          <a:p>
            <a:r>
              <a:t>- D:/文档/物赛/云端4;添加餐食记录.jpg</a:t>
            </a:r>
          </a:p>
          <a:p>
            <a:r>
              <a:t>- D:/文档/物赛/云端4;添加餐食记录2.jpg</a:t>
            </a:r>
          </a:p>
        </p:txBody>
      </p:sp>
      <p:sp>
        <p:nvSpPr>
          <p:cNvPr id="104882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/>
      <p:sp>
        <p:nvSpPr>
          <p:cNvPr id="1048838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10488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t>【第11页 · 结尾 · 15秒 | 累计4:55】</a:t>
            </a:r>
          </a:p>
          <a:p>
            <a:r>
              <a:t>最后总结：膳衡智枢用物联感知让数据自然产生，用端云协同把实时与长期任务各就其位，用AI把数据变成真正可用的健康洞察——让健康管理无感化，让坚持不再成为负担。谢谢各位评委老师！</a:t>
            </a:r>
          </a:p>
          <a:p/>
          <a:p>
            <a:r>
              <a:t>（提示：结尾三句逐句加重，鞠躬或点头示意，等待提问。）</a:t>
            </a:r>
          </a:p>
          <a:p/>
          <a:p>
            <a:r>
              <a:t>[Sources]</a:t>
            </a:r>
          </a:p>
          <a:p>
            <a:r>
              <a:t>- 总结：项目竞赛设计文档与作品创意表</a:t>
            </a:r>
          </a:p>
        </p:txBody>
      </p:sp>
      <p:sp>
        <p:nvSpPr>
          <p:cNvPr id="104884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4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1E"/>
        </a:solidFill>
        <a:effectLst/>
      </p:bgPr>
    </p:bg>
    <p:spTree>
      <p:nvGrpSpPr>
        <p:cNvPr id="15" name=""/>
        <p:cNvGrpSpPr/>
        <p:nvPr/>
      </p:nvGrpSpPr>
      <p:grpSpPr/>
      <p:pic>
        <p:nvPicPr>
          <p:cNvPr id="2097152" name="图片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576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1048577" name="矩形 2"/>
          <p:cNvSpPr>
            <a:spLocks noGrp="1"/>
          </p:cNvSpPr>
          <p:nvPr/>
        </p:nvSpPr>
        <p:spPr>
          <a:xfrm>
            <a:off x="0" y="0"/>
            <a:ext cx="7239000" cy="6858000"/>
          </a:xfrm>
          <a:prstGeom prst="rect">
            <a:avLst/>
          </a:prstGeom>
          <a:solidFill>
            <a:srgbClr val="000000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1048578" name="矩形 3"/>
          <p:cNvSpPr>
            <a:spLocks noGrp="1"/>
          </p:cNvSpPr>
          <p:nvPr/>
        </p:nvSpPr>
        <p:spPr>
          <a:xfrm>
            <a:off x="723900" y="6286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00" b="1">
                <a:solidFill>
                  <a:srgbClr val="E7ECE9"/>
                </a:solidFill>
              </a:defRPr>
            </a:pPr>
            <a:r>
              <a:rPr sz="1200" b="1">
                <a:solidFill>
                  <a:srgbClr val="E7ECE9"/>
                </a:solidFill>
              </a:rPr>
              <a:t>全国大学生物联网设计竞赛</a:t>
            </a:r>
            <a:endParaRPr sz="1200" b="1">
              <a:solidFill>
                <a:srgbClr val="E7ECE9"/>
              </a:solidFill>
            </a:endParaRPr>
          </a:p>
        </p:txBody>
      </p:sp>
      <p:sp>
        <p:nvSpPr>
          <p:cNvPr id="1048579" name="矩形 4"/>
          <p:cNvSpPr>
            <a:spLocks noGrp="1"/>
          </p:cNvSpPr>
          <p:nvPr/>
        </p:nvSpPr>
        <p:spPr>
          <a:xfrm>
            <a:off x="723900" y="1123950"/>
            <a:ext cx="609600" cy="47625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580" name="矩形 5"/>
          <p:cNvSpPr>
            <a:spLocks noGrp="1"/>
          </p:cNvSpPr>
          <p:nvPr/>
        </p:nvSpPr>
        <p:spPr>
          <a:xfrm>
            <a:off x="723900" y="1581150"/>
            <a:ext cx="5715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膳衡智枢</a:t>
            </a:r>
            <a:endParaRPr sz="5100" b="1">
              <a:solidFill>
                <a:srgbClr val="FFFFFF"/>
              </a:solidFill>
            </a:endParaRPr>
          </a:p>
        </p:txBody>
      </p:sp>
      <p:sp>
        <p:nvSpPr>
          <p:cNvPr id="1048581" name="矩形 6"/>
          <p:cNvSpPr>
            <a:spLocks noGrp="1"/>
          </p:cNvSpPr>
          <p:nvPr/>
        </p:nvSpPr>
        <p:spPr>
          <a:xfrm>
            <a:off x="762000" y="2628900"/>
            <a:ext cx="590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基于物联网的智能饮食健康秤</a:t>
            </a:r>
            <a:endParaRPr sz="2250" b="0">
              <a:solidFill>
                <a:srgbClr val="FFFFFF"/>
              </a:solidFill>
            </a:endParaRPr>
          </a:p>
        </p:txBody>
      </p:sp>
      <p:sp>
        <p:nvSpPr>
          <p:cNvPr id="1048582" name="矩形 7"/>
          <p:cNvSpPr>
            <a:spLocks noGrp="1"/>
          </p:cNvSpPr>
          <p:nvPr/>
        </p:nvSpPr>
        <p:spPr>
          <a:xfrm>
            <a:off x="762000" y="3486150"/>
            <a:ext cx="581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800" b="0">
                <a:solidFill>
                  <a:srgbClr val="D8DFDB"/>
                </a:solidFill>
              </a:defRPr>
            </a:pPr>
            <a:r>
              <a:rPr sz="1800" b="0">
                <a:solidFill>
                  <a:srgbClr val="D8DFDB"/>
                </a:solidFill>
              </a:rPr>
              <a:t>信息随烹饪动作自然生成，让每一餐都成为健康数据</a:t>
            </a:r>
            <a:endParaRPr sz="1800" b="0">
              <a:solidFill>
                <a:srgbClr val="D8DFDB"/>
              </a:solidFill>
            </a:endParaRPr>
          </a:p>
        </p:txBody>
      </p:sp>
      <p:sp>
        <p:nvSpPr>
          <p:cNvPr id="1048583" name="矩形 9"/>
          <p:cNvSpPr>
            <a:spLocks noGrp="1"/>
          </p:cNvSpPr>
          <p:nvPr/>
        </p:nvSpPr>
        <p:spPr>
          <a:xfrm>
            <a:off x="762000" y="60388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125" b="0">
                <a:solidFill>
                  <a:srgbClr val="CED6D1"/>
                </a:solidFill>
              </a:defRPr>
            </a:pPr>
            <a:r>
              <a:rPr sz="1125" b="0">
                <a:solidFill>
                  <a:srgbClr val="CED6D1"/>
                </a:solidFill>
              </a:rPr>
              <a:t>物联网 × 边缘AI × 健康管理</a:t>
            </a:r>
            <a:endParaRPr sz="1125" b="0">
              <a:solidFill>
                <a:srgbClr val="CED6D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20" name=""/>
        <p:cNvGrpSpPr/>
        <p:nvPr/>
      </p:nvGrpSpPr>
      <p:grpSpPr/>
      <p:sp>
        <p:nvSpPr>
          <p:cNvPr id="1048587" name="矩形 24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01  刚需问题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588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sz="3000" b="1">
                <a:solidFill>
                  <a:srgbClr val="111820"/>
                </a:solidFill>
              </a:rPr>
              <a:t>谁需要它？想管理饮食，却难以坚持记录的人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589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590" name="矩形 3"/>
          <p:cNvSpPr>
            <a:spLocks noGrp="1"/>
          </p:cNvSpPr>
          <p:nvPr/>
        </p:nvSpPr>
        <p:spPr>
          <a:xfrm>
            <a:off x="742950" y="15621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500" b="1">
                <a:solidFill>
                  <a:srgbClr val="E44732"/>
                </a:solidFill>
              </a:defRPr>
            </a:pPr>
            <a:r>
              <a:rPr sz="1500" b="1">
                <a:solidFill>
                  <a:srgbClr val="E44732"/>
                </a:solidFill>
              </a:rPr>
              <a:t>减脂 / </a:t>
            </a:r>
            <a:r>
              <a:rPr sz="1500" b="1">
                <a:solidFill>
                  <a:srgbClr val="E44732"/>
                </a:solidFill>
              </a:rPr>
              <a:t>减肥</a:t>
            </a:r>
            <a:endParaRPr sz="1500" b="1">
              <a:solidFill>
                <a:srgbClr val="E44732"/>
              </a:solidFill>
            </a:endParaRPr>
          </a:p>
        </p:txBody>
      </p:sp>
      <p:sp>
        <p:nvSpPr>
          <p:cNvPr id="1048591" name="矩形 4"/>
          <p:cNvSpPr>
            <a:spLocks noGrp="1"/>
          </p:cNvSpPr>
          <p:nvPr/>
        </p:nvSpPr>
        <p:spPr>
          <a:xfrm>
            <a:off x="2457450" y="15621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500" b="1">
                <a:solidFill>
                  <a:srgbClr val="16865A"/>
                </a:solidFill>
              </a:defRPr>
            </a:pPr>
            <a:r>
              <a:rPr sz="1500" b="1">
                <a:solidFill>
                  <a:srgbClr val="16865A"/>
                </a:solidFill>
              </a:rPr>
              <a:t>控糖 / 慢病</a:t>
            </a:r>
            <a:endParaRPr sz="1500" b="1">
              <a:solidFill>
                <a:srgbClr val="16865A"/>
              </a:solidFill>
            </a:endParaRPr>
          </a:p>
        </p:txBody>
      </p:sp>
      <p:sp>
        <p:nvSpPr>
          <p:cNvPr id="1048592" name="矩形 5"/>
          <p:cNvSpPr>
            <a:spLocks noGrp="1"/>
          </p:cNvSpPr>
          <p:nvPr/>
        </p:nvSpPr>
        <p:spPr>
          <a:xfrm>
            <a:off x="4171950" y="15621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500" b="1">
                <a:solidFill>
                  <a:srgbClr val="285ED3"/>
                </a:solidFill>
              </a:defRPr>
            </a:pPr>
            <a:r>
              <a:rPr sz="1500" b="1">
                <a:solidFill>
                  <a:srgbClr val="285ED3"/>
                </a:solidFill>
              </a:rPr>
              <a:t>健身 / </a:t>
            </a:r>
            <a:r>
              <a:rPr sz="1500" b="1">
                <a:solidFill>
                  <a:srgbClr val="285ED3"/>
                </a:solidFill>
              </a:rPr>
              <a:t>增肌</a:t>
            </a:r>
            <a:endParaRPr sz="1500" b="1">
              <a:solidFill>
                <a:srgbClr val="285ED3"/>
              </a:solidFill>
            </a:endParaRPr>
          </a:p>
        </p:txBody>
      </p:sp>
      <p:sp>
        <p:nvSpPr>
          <p:cNvPr id="1048593" name="矩形 6"/>
          <p:cNvSpPr>
            <a:spLocks noGrp="1"/>
          </p:cNvSpPr>
          <p:nvPr/>
        </p:nvSpPr>
        <p:spPr>
          <a:xfrm>
            <a:off x="742950" y="20002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2100" b="1">
                <a:solidFill>
                  <a:srgbClr val="111820"/>
                </a:solidFill>
              </a:defRPr>
            </a:pPr>
            <a:r>
              <a:rPr sz="2100" b="1">
                <a:solidFill>
                  <a:srgbClr val="111820"/>
                </a:solidFill>
              </a:rPr>
              <a:t>他们不是不关心健康，而是记录成本太高。</a:t>
            </a:r>
            <a:endParaRPr sz="2100" b="1">
              <a:solidFill>
                <a:srgbClr val="111820"/>
              </a:solidFill>
            </a:endParaRPr>
          </a:p>
        </p:txBody>
      </p:sp>
      <p:sp>
        <p:nvSpPr>
          <p:cNvPr id="1048594" name="矩形 7"/>
          <p:cNvSpPr>
            <a:spLocks noGrp="1"/>
          </p:cNvSpPr>
          <p:nvPr/>
        </p:nvSpPr>
        <p:spPr>
          <a:xfrm>
            <a:off x="742950" y="2895600"/>
            <a:ext cx="19050" cy="161925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595" name="矩形 8"/>
          <p:cNvSpPr>
            <a:spLocks noGrp="1"/>
          </p:cNvSpPr>
          <p:nvPr/>
        </p:nvSpPr>
        <p:spPr>
          <a:xfrm>
            <a:off x="971550" y="29146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00" b="1">
                <a:solidFill>
                  <a:srgbClr val="68727A"/>
                </a:solidFill>
              </a:defRPr>
            </a:pPr>
            <a:r>
              <a:rPr sz="1200" b="1">
                <a:solidFill>
                  <a:srgbClr val="68727A"/>
                </a:solidFill>
              </a:rPr>
              <a:t>01</a:t>
            </a:r>
            <a:endParaRPr sz="1200" b="1">
              <a:solidFill>
                <a:srgbClr val="68727A"/>
              </a:solidFill>
            </a:endParaRPr>
          </a:p>
        </p:txBody>
      </p:sp>
      <p:sp>
        <p:nvSpPr>
          <p:cNvPr id="1048596" name="矩形 9"/>
          <p:cNvSpPr>
            <a:spLocks noGrp="1"/>
          </p:cNvSpPr>
          <p:nvPr/>
        </p:nvSpPr>
        <p:spPr>
          <a:xfrm>
            <a:off x="971550" y="32766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2100" b="1">
                <a:solidFill>
                  <a:srgbClr val="111820"/>
                </a:solidFill>
              </a:defRPr>
            </a:pPr>
            <a:r>
              <a:rPr sz="2100" b="1">
                <a:solidFill>
                  <a:srgbClr val="111820"/>
                </a:solidFill>
              </a:rPr>
              <a:t>搜索食材</a:t>
            </a:r>
            <a:endParaRPr sz="2100" b="1">
              <a:solidFill>
                <a:srgbClr val="111820"/>
              </a:solidFill>
            </a:endParaRPr>
          </a:p>
        </p:txBody>
      </p:sp>
      <p:sp>
        <p:nvSpPr>
          <p:cNvPr id="1048597" name="矩形 10"/>
          <p:cNvSpPr>
            <a:spLocks noGrp="1"/>
          </p:cNvSpPr>
          <p:nvPr/>
        </p:nvSpPr>
        <p:spPr>
          <a:xfrm>
            <a:off x="971550" y="37528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350" b="0">
                <a:solidFill>
                  <a:srgbClr val="68727A"/>
                </a:solidFill>
              </a:defRPr>
            </a:pPr>
            <a:r>
              <a:rPr sz="1350" b="0">
                <a:solidFill>
                  <a:srgbClr val="68727A"/>
                </a:solidFill>
              </a:rPr>
              <a:t>依赖用户知道准确名称</a:t>
            </a:r>
            <a:endParaRPr sz="1350" b="0">
              <a:solidFill>
                <a:srgbClr val="68727A"/>
              </a:solidFill>
            </a:endParaRPr>
          </a:p>
        </p:txBody>
      </p:sp>
      <p:sp>
        <p:nvSpPr>
          <p:cNvPr id="1048598" name="矩形 11"/>
          <p:cNvSpPr>
            <a:spLocks noGrp="1"/>
          </p:cNvSpPr>
          <p:nvPr/>
        </p:nvSpPr>
        <p:spPr>
          <a:xfrm>
            <a:off x="4324350" y="2895600"/>
            <a:ext cx="19050" cy="1619250"/>
          </a:xfrm>
          <a:prstGeom prst="rect">
            <a:avLst/>
          </a:prstGeom>
          <a:solidFill>
            <a:srgbClr val="D69D16"/>
          </a:solidFill>
          <a:ln w="0">
            <a:noFill/>
            <a:prstDash val="solid"/>
          </a:ln>
        </p:spPr>
      </p:sp>
      <p:sp>
        <p:nvSpPr>
          <p:cNvPr id="1048599" name="矩形 12"/>
          <p:cNvSpPr>
            <a:spLocks noGrp="1"/>
          </p:cNvSpPr>
          <p:nvPr/>
        </p:nvSpPr>
        <p:spPr>
          <a:xfrm>
            <a:off x="4552950" y="29146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00" b="1">
                <a:solidFill>
                  <a:srgbClr val="68727A"/>
                </a:solidFill>
              </a:defRPr>
            </a:pPr>
            <a:r>
              <a:rPr sz="1200" b="1">
                <a:solidFill>
                  <a:srgbClr val="68727A"/>
                </a:solidFill>
              </a:rPr>
              <a:t>02</a:t>
            </a:r>
            <a:endParaRPr sz="1200" b="1">
              <a:solidFill>
                <a:srgbClr val="68727A"/>
              </a:solidFill>
            </a:endParaRPr>
          </a:p>
        </p:txBody>
      </p:sp>
      <p:sp>
        <p:nvSpPr>
          <p:cNvPr id="1048600" name="矩形 13"/>
          <p:cNvSpPr>
            <a:spLocks noGrp="1"/>
          </p:cNvSpPr>
          <p:nvPr/>
        </p:nvSpPr>
        <p:spPr>
          <a:xfrm>
            <a:off x="4552950" y="32766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2100" b="1">
                <a:solidFill>
                  <a:srgbClr val="111820"/>
                </a:solidFill>
              </a:defRPr>
            </a:pPr>
            <a:r>
              <a:rPr sz="2100" b="1">
                <a:solidFill>
                  <a:srgbClr val="111820"/>
                </a:solidFill>
              </a:rPr>
              <a:t>估算份量</a:t>
            </a:r>
            <a:endParaRPr sz="2100" b="1">
              <a:solidFill>
                <a:srgbClr val="111820"/>
              </a:solidFill>
            </a:endParaRPr>
          </a:p>
        </p:txBody>
      </p:sp>
      <p:sp>
        <p:nvSpPr>
          <p:cNvPr id="1048601" name="矩形 14"/>
          <p:cNvSpPr>
            <a:spLocks noGrp="1"/>
          </p:cNvSpPr>
          <p:nvPr/>
        </p:nvSpPr>
        <p:spPr>
          <a:xfrm>
            <a:off x="4552950" y="37528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350" b="0">
                <a:solidFill>
                  <a:srgbClr val="68727A"/>
                </a:solidFill>
              </a:defRPr>
            </a:pPr>
            <a:r>
              <a:rPr sz="1350" b="0">
                <a:solidFill>
                  <a:srgbClr val="68727A"/>
                </a:solidFill>
              </a:rPr>
              <a:t>克数常靠经验猜测</a:t>
            </a:r>
            <a:endParaRPr sz="1350" b="0">
              <a:solidFill>
                <a:srgbClr val="68727A"/>
              </a:solidFill>
            </a:endParaRPr>
          </a:p>
        </p:txBody>
      </p:sp>
      <p:sp>
        <p:nvSpPr>
          <p:cNvPr id="1048602" name="矩形 15"/>
          <p:cNvSpPr>
            <a:spLocks noGrp="1"/>
          </p:cNvSpPr>
          <p:nvPr/>
        </p:nvSpPr>
        <p:spPr>
          <a:xfrm>
            <a:off x="7905750" y="2895600"/>
            <a:ext cx="19050" cy="1619250"/>
          </a:xfrm>
          <a:prstGeom prst="rect">
            <a:avLst/>
          </a:prstGeom>
          <a:solidFill>
            <a:srgbClr val="16865A"/>
          </a:solidFill>
          <a:ln w="0">
            <a:noFill/>
            <a:prstDash val="solid"/>
          </a:ln>
        </p:spPr>
      </p:sp>
      <p:sp>
        <p:nvSpPr>
          <p:cNvPr id="1048603" name="矩形 16"/>
          <p:cNvSpPr>
            <a:spLocks noGrp="1"/>
          </p:cNvSpPr>
          <p:nvPr/>
        </p:nvSpPr>
        <p:spPr>
          <a:xfrm>
            <a:off x="8134350" y="2914650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00" b="1">
                <a:solidFill>
                  <a:srgbClr val="68727A"/>
                </a:solidFill>
              </a:defRPr>
            </a:pPr>
            <a:r>
              <a:rPr sz="1200" b="1">
                <a:solidFill>
                  <a:srgbClr val="68727A"/>
                </a:solidFill>
              </a:rPr>
              <a:t>03</a:t>
            </a:r>
            <a:endParaRPr sz="1200" b="1">
              <a:solidFill>
                <a:srgbClr val="68727A"/>
              </a:solidFill>
            </a:endParaRPr>
          </a:p>
        </p:txBody>
      </p:sp>
      <p:sp>
        <p:nvSpPr>
          <p:cNvPr id="1048604" name="矩形 17"/>
          <p:cNvSpPr>
            <a:spLocks noGrp="1"/>
          </p:cNvSpPr>
          <p:nvPr/>
        </p:nvSpPr>
        <p:spPr>
          <a:xfrm>
            <a:off x="8134350" y="32766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2100" b="1">
                <a:solidFill>
                  <a:srgbClr val="111820"/>
                </a:solidFill>
              </a:defRPr>
            </a:pPr>
            <a:r>
              <a:rPr sz="2100" b="1">
                <a:solidFill>
                  <a:srgbClr val="111820"/>
                </a:solidFill>
              </a:rPr>
              <a:t>逐项录入</a:t>
            </a:r>
            <a:endParaRPr sz="2100" b="1">
              <a:solidFill>
                <a:srgbClr val="111820"/>
              </a:solidFill>
            </a:endParaRPr>
          </a:p>
        </p:txBody>
      </p:sp>
      <p:sp>
        <p:nvSpPr>
          <p:cNvPr id="1048605" name="矩形 18"/>
          <p:cNvSpPr>
            <a:spLocks noGrp="1"/>
          </p:cNvSpPr>
          <p:nvPr/>
        </p:nvSpPr>
        <p:spPr>
          <a:xfrm>
            <a:off x="8134350" y="37528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350" b="0">
                <a:solidFill>
                  <a:srgbClr val="68727A"/>
                </a:solidFill>
              </a:defRPr>
            </a:pPr>
            <a:r>
              <a:rPr sz="1350" b="0">
                <a:solidFill>
                  <a:srgbClr val="68727A"/>
                </a:solidFill>
              </a:rPr>
              <a:t>流程长，难以坚持</a:t>
            </a:r>
            <a:endParaRPr sz="1350" b="0">
              <a:solidFill>
                <a:srgbClr val="68727A"/>
              </a:solidFill>
            </a:endParaRPr>
          </a:p>
        </p:txBody>
      </p:sp>
      <p:sp>
        <p:nvSpPr>
          <p:cNvPr id="1048606" name="圆角矩形 19"/>
          <p:cNvSpPr>
            <a:spLocks noGrp="1"/>
          </p:cNvSpPr>
          <p:nvPr/>
        </p:nvSpPr>
        <p:spPr>
          <a:xfrm>
            <a:off x="742950" y="4972050"/>
            <a:ext cx="10744200" cy="704850"/>
          </a:xfrm>
          <a:prstGeom prst="roundRect">
            <a:avLst>
              <a:gd name="adj" fmla="val 8108"/>
            </a:avLst>
          </a:prstGeom>
          <a:solidFill>
            <a:srgbClr val="111820"/>
          </a:solidFill>
          <a:ln w="0">
            <a:noFill/>
            <a:prstDash val="solid"/>
          </a:ln>
        </p:spPr>
      </p:sp>
      <p:sp>
        <p:nvSpPr>
          <p:cNvPr id="1048607" name="矩形 20"/>
          <p:cNvSpPr>
            <a:spLocks noGrp="1"/>
          </p:cNvSpPr>
          <p:nvPr/>
        </p:nvSpPr>
        <p:spPr>
          <a:xfrm>
            <a:off x="1028700" y="5153025"/>
            <a:ext cx="10172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用户必须先把一餐“翻译”成数据，门槛高，持续性低。</a:t>
            </a:r>
            <a:endParaRPr sz="2025" b="1">
              <a:solidFill>
                <a:srgbClr val="FFFFFF"/>
              </a:solidFill>
            </a:endParaRPr>
          </a:p>
        </p:txBody>
      </p:sp>
      <p:sp>
        <p:nvSpPr>
          <p:cNvPr id="1048608" name="矩形 21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609" name="矩形 22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610" name="矩形 23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02</a:t>
            </a:r>
            <a:endParaRPr sz="825" b="1">
              <a:solidFill>
                <a:srgbClr val="68727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26" name=""/>
        <p:cNvGrpSpPr/>
        <p:nvPr/>
      </p:nvGrpSpPr>
      <p:grpSpPr/>
      <p:sp>
        <p:nvSpPr>
          <p:cNvPr id="1048636" name="矩形 28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02  整体方案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637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sz="3000" b="1">
                <a:solidFill>
                  <a:srgbClr val="111820"/>
                </a:solidFill>
              </a:rPr>
              <a:t>膳衡智枢：信息随烹饪动作自然生成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638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pic>
        <p:nvPicPr>
          <p:cNvPr id="2097155" name="图片 31"/>
          <p:cNvPicPr>
            <a:picLocks noChangeAspect="1"/>
          </p:cNvPicPr>
          <p:nvPr/>
        </p:nvPicPr>
        <p:blipFill>
          <a:blip r:embed="rId1"/>
          <a:srcRect l="19531" r="19531"/>
          <a:stretch>
            <a:fillRect/>
          </a:stretch>
        </p:blipFill>
        <p:spPr>
          <a:xfrm>
            <a:off x="666750" y="1543050"/>
            <a:ext cx="4333875" cy="4000500"/>
          </a:xfrm>
          <a:prstGeom prst="roundRect">
            <a:avLst>
              <a:gd name="adj" fmla="val 1429"/>
            </a:avLst>
          </a:prstGeom>
        </p:spPr>
      </p:pic>
      <p:sp>
        <p:nvSpPr>
          <p:cNvPr id="1048639" name="圆角矩形 4"/>
          <p:cNvSpPr>
            <a:spLocks noGrp="1"/>
          </p:cNvSpPr>
          <p:nvPr/>
        </p:nvSpPr>
        <p:spPr>
          <a:xfrm>
            <a:off x="876300" y="1752600"/>
            <a:ext cx="1066800" cy="323850"/>
          </a:xfrm>
          <a:prstGeom prst="roundRect">
            <a:avLst>
              <a:gd name="adj" fmla="val 17647"/>
            </a:avLst>
          </a:prstGeom>
          <a:solidFill>
            <a:srgbClr val="000000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1048640" name="矩形 5"/>
          <p:cNvSpPr>
            <a:spLocks noGrp="1"/>
          </p:cNvSpPr>
          <p:nvPr/>
        </p:nvSpPr>
        <p:spPr>
          <a:xfrm>
            <a:off x="876300" y="180975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真实设备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1048641" name="矩形 6"/>
          <p:cNvSpPr>
            <a:spLocks noGrp="1"/>
          </p:cNvSpPr>
          <p:nvPr/>
        </p:nvSpPr>
        <p:spPr>
          <a:xfrm>
            <a:off x="5619750" y="1619250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800" b="1">
                <a:solidFill>
                  <a:srgbClr val="68727A"/>
                </a:solidFill>
              </a:defRPr>
            </a:pPr>
            <a:r>
              <a:rPr sz="1800" b="1">
                <a:solidFill>
                  <a:srgbClr val="68727A"/>
                </a:solidFill>
              </a:rPr>
              <a:t>用户只做本来就要做的动作</a:t>
            </a:r>
            <a:endParaRPr sz="1800" b="1">
              <a:solidFill>
                <a:srgbClr val="68727A"/>
              </a:solidFill>
            </a:endParaRPr>
          </a:p>
        </p:txBody>
      </p:sp>
      <p:sp>
        <p:nvSpPr>
          <p:cNvPr id="1048642" name="椭圆 7"/>
          <p:cNvSpPr>
            <a:spLocks noGrp="1"/>
          </p:cNvSpPr>
          <p:nvPr/>
        </p:nvSpPr>
        <p:spPr>
          <a:xfrm>
            <a:off x="5619750" y="2476500"/>
            <a:ext cx="723900" cy="723900"/>
          </a:xfrm>
          <a:prstGeom prst="ellipse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643" name="矩形 8"/>
          <p:cNvSpPr>
            <a:spLocks noGrp="1"/>
          </p:cNvSpPr>
          <p:nvPr/>
        </p:nvSpPr>
        <p:spPr>
          <a:xfrm>
            <a:off x="5619750" y="2647950"/>
            <a:ext cx="723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放</a:t>
            </a:r>
            <a:endParaRPr sz="2175" b="1">
              <a:solidFill>
                <a:srgbClr val="FFFFFF"/>
              </a:solidFill>
            </a:endParaRPr>
          </a:p>
        </p:txBody>
      </p:sp>
      <p:sp>
        <p:nvSpPr>
          <p:cNvPr id="1048644" name="矩形 9"/>
          <p:cNvSpPr>
            <a:spLocks noGrp="1"/>
          </p:cNvSpPr>
          <p:nvPr/>
        </p:nvSpPr>
        <p:spPr>
          <a:xfrm>
            <a:off x="5391150" y="3467100"/>
            <a:ext cx="1181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1">
                <a:solidFill>
                  <a:srgbClr val="111820"/>
                </a:solidFill>
              </a:defRPr>
            </a:pPr>
            <a:r>
              <a:rPr sz="1275" b="1">
                <a:solidFill>
                  <a:srgbClr val="111820"/>
                </a:solidFill>
              </a:rPr>
              <a:t>摄像头识别食材</a:t>
            </a:r>
            <a:endParaRPr sz="1275" b="1">
              <a:solidFill>
                <a:srgbClr val="111820"/>
              </a:solidFill>
            </a:endParaRPr>
          </a:p>
        </p:txBody>
      </p:sp>
      <p:sp>
        <p:nvSpPr>
          <p:cNvPr id="1048645" name="燕尾形 10"/>
          <p:cNvSpPr>
            <a:spLocks noGrp="1"/>
          </p:cNvSpPr>
          <p:nvPr/>
        </p:nvSpPr>
        <p:spPr>
          <a:xfrm>
            <a:off x="6610350" y="2705100"/>
            <a:ext cx="228600" cy="266700"/>
          </a:xfrm>
          <a:prstGeom prst="chevron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646" name="椭圆 11"/>
          <p:cNvSpPr>
            <a:spLocks noGrp="1"/>
          </p:cNvSpPr>
          <p:nvPr/>
        </p:nvSpPr>
        <p:spPr>
          <a:xfrm>
            <a:off x="7048500" y="2476500"/>
            <a:ext cx="723900" cy="723900"/>
          </a:xfrm>
          <a:prstGeom prst="ellipse">
            <a:avLst/>
          </a:prstGeom>
          <a:solidFill>
            <a:srgbClr val="D69D16"/>
          </a:solidFill>
          <a:ln w="0">
            <a:noFill/>
            <a:prstDash val="solid"/>
          </a:ln>
        </p:spPr>
      </p:sp>
      <p:sp>
        <p:nvSpPr>
          <p:cNvPr id="1048647" name="矩形 12"/>
          <p:cNvSpPr>
            <a:spLocks noGrp="1"/>
          </p:cNvSpPr>
          <p:nvPr/>
        </p:nvSpPr>
        <p:spPr>
          <a:xfrm>
            <a:off x="7048500" y="2647950"/>
            <a:ext cx="723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称</a:t>
            </a:r>
            <a:endParaRPr sz="2175" b="1">
              <a:solidFill>
                <a:srgbClr val="FFFFFF"/>
              </a:solidFill>
            </a:endParaRPr>
          </a:p>
        </p:txBody>
      </p:sp>
      <p:sp>
        <p:nvSpPr>
          <p:cNvPr id="1048648" name="矩形 13"/>
          <p:cNvSpPr>
            <a:spLocks noGrp="1"/>
          </p:cNvSpPr>
          <p:nvPr/>
        </p:nvSpPr>
        <p:spPr>
          <a:xfrm>
            <a:off x="6819900" y="3467100"/>
            <a:ext cx="1181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1">
                <a:solidFill>
                  <a:srgbClr val="111820"/>
                </a:solidFill>
              </a:defRPr>
            </a:pPr>
            <a:r>
              <a:rPr sz="1275" b="1">
                <a:solidFill>
                  <a:srgbClr val="111820"/>
                </a:solidFill>
              </a:rPr>
              <a:t>HX711给出实际重量</a:t>
            </a:r>
            <a:endParaRPr sz="1275" b="1">
              <a:solidFill>
                <a:srgbClr val="111820"/>
              </a:solidFill>
            </a:endParaRPr>
          </a:p>
        </p:txBody>
      </p:sp>
      <p:sp>
        <p:nvSpPr>
          <p:cNvPr id="1048649" name="燕尾形 14"/>
          <p:cNvSpPr>
            <a:spLocks noGrp="1"/>
          </p:cNvSpPr>
          <p:nvPr/>
        </p:nvSpPr>
        <p:spPr>
          <a:xfrm>
            <a:off x="8039100" y="2705100"/>
            <a:ext cx="228600" cy="266700"/>
          </a:xfrm>
          <a:prstGeom prst="chevron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650" name="椭圆 15"/>
          <p:cNvSpPr>
            <a:spLocks noGrp="1"/>
          </p:cNvSpPr>
          <p:nvPr/>
        </p:nvSpPr>
        <p:spPr>
          <a:xfrm>
            <a:off x="8477250" y="2476500"/>
            <a:ext cx="723900" cy="723900"/>
          </a:xfrm>
          <a:prstGeom prst="ellipse">
            <a:avLst/>
          </a:prstGeom>
          <a:solidFill>
            <a:srgbClr val="285ED3"/>
          </a:solidFill>
          <a:ln w="0">
            <a:noFill/>
            <a:prstDash val="solid"/>
          </a:ln>
        </p:spPr>
      </p:sp>
      <p:sp>
        <p:nvSpPr>
          <p:cNvPr id="1048651" name="矩形 16"/>
          <p:cNvSpPr>
            <a:spLocks noGrp="1"/>
          </p:cNvSpPr>
          <p:nvPr/>
        </p:nvSpPr>
        <p:spPr>
          <a:xfrm>
            <a:off x="8477250" y="2647950"/>
            <a:ext cx="723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选</a:t>
            </a:r>
            <a:endParaRPr sz="2175" b="1">
              <a:solidFill>
                <a:srgbClr val="FFFFFF"/>
              </a:solidFill>
            </a:endParaRPr>
          </a:p>
        </p:txBody>
      </p:sp>
      <p:sp>
        <p:nvSpPr>
          <p:cNvPr id="1048652" name="矩形 17"/>
          <p:cNvSpPr>
            <a:spLocks noGrp="1"/>
          </p:cNvSpPr>
          <p:nvPr/>
        </p:nvSpPr>
        <p:spPr>
          <a:xfrm>
            <a:off x="8248650" y="3467100"/>
            <a:ext cx="1181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1">
                <a:solidFill>
                  <a:srgbClr val="111820"/>
                </a:solidFill>
              </a:defRPr>
            </a:pPr>
            <a:r>
              <a:rPr sz="1275" b="1">
                <a:solidFill>
                  <a:srgbClr val="111820"/>
                </a:solidFill>
              </a:rPr>
              <a:t>触控</a:t>
            </a:r>
            <a:r>
              <a:rPr sz="1275" b="1">
                <a:solidFill>
                  <a:srgbClr val="111820"/>
                </a:solidFill>
              </a:rPr>
              <a:t>选择</a:t>
            </a:r>
            <a:r>
              <a:rPr sz="1275" b="1">
                <a:solidFill>
                  <a:srgbClr val="111820"/>
                </a:solidFill>
              </a:rPr>
              <a:t>烹饪方式</a:t>
            </a:r>
            <a:endParaRPr sz="1275" b="1">
              <a:solidFill>
                <a:srgbClr val="111820"/>
              </a:solidFill>
            </a:endParaRPr>
          </a:p>
        </p:txBody>
      </p:sp>
      <p:sp>
        <p:nvSpPr>
          <p:cNvPr id="1048653" name="燕尾形 18"/>
          <p:cNvSpPr>
            <a:spLocks noGrp="1"/>
          </p:cNvSpPr>
          <p:nvPr/>
        </p:nvSpPr>
        <p:spPr>
          <a:xfrm>
            <a:off x="9467850" y="2705100"/>
            <a:ext cx="228600" cy="266700"/>
          </a:xfrm>
          <a:prstGeom prst="chevron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654" name="椭圆 19"/>
          <p:cNvSpPr>
            <a:spLocks noGrp="1"/>
          </p:cNvSpPr>
          <p:nvPr/>
        </p:nvSpPr>
        <p:spPr>
          <a:xfrm>
            <a:off x="9906000" y="2476500"/>
            <a:ext cx="723900" cy="723900"/>
          </a:xfrm>
          <a:prstGeom prst="ellipse">
            <a:avLst/>
          </a:prstGeom>
          <a:solidFill>
            <a:srgbClr val="16865A"/>
          </a:solidFill>
          <a:ln w="0">
            <a:noFill/>
            <a:prstDash val="solid"/>
          </a:ln>
        </p:spPr>
      </p:sp>
      <p:sp>
        <p:nvSpPr>
          <p:cNvPr id="1048655" name="矩形 20"/>
          <p:cNvSpPr>
            <a:spLocks noGrp="1"/>
          </p:cNvSpPr>
          <p:nvPr/>
        </p:nvSpPr>
        <p:spPr>
          <a:xfrm>
            <a:off x="9906000" y="2647950"/>
            <a:ext cx="723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得</a:t>
            </a:r>
            <a:endParaRPr sz="2175" b="1">
              <a:solidFill>
                <a:srgbClr val="FFFFFF"/>
              </a:solidFill>
            </a:endParaRPr>
          </a:p>
        </p:txBody>
      </p:sp>
      <p:sp>
        <p:nvSpPr>
          <p:cNvPr id="1048656" name="矩形 21"/>
          <p:cNvSpPr>
            <a:spLocks noGrp="1"/>
          </p:cNvSpPr>
          <p:nvPr/>
        </p:nvSpPr>
        <p:spPr>
          <a:xfrm>
            <a:off x="9677400" y="3467100"/>
            <a:ext cx="1181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1">
                <a:solidFill>
                  <a:srgbClr val="111820"/>
                </a:solidFill>
              </a:defRPr>
            </a:pPr>
            <a:r>
              <a:rPr sz="1275" b="1">
                <a:solidFill>
                  <a:srgbClr val="111820"/>
                </a:solidFill>
              </a:rPr>
              <a:t>端侧输出完整营养</a:t>
            </a:r>
            <a:endParaRPr sz="1275" b="1">
              <a:solidFill>
                <a:srgbClr val="111820"/>
              </a:solidFill>
            </a:endParaRPr>
          </a:p>
        </p:txBody>
      </p:sp>
      <p:sp>
        <p:nvSpPr>
          <p:cNvPr id="1048657" name="矩形 25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658" name="矩形 26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659" name="矩形 27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03</a:t>
            </a:r>
            <a:endParaRPr sz="825" b="1">
              <a:solidFill>
                <a:srgbClr val="68727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23" name=""/>
        <p:cNvGrpSpPr/>
        <p:nvPr/>
      </p:nvGrpSpPr>
      <p:grpSpPr/>
      <p:sp>
        <p:nvSpPr>
          <p:cNvPr id="1048614" name="矩形 21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03  物联网技术 · 物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615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sz="3000" b="1">
                <a:solidFill>
                  <a:srgbClr val="111820"/>
                </a:solidFill>
              </a:rPr>
              <a:t>物：一台会看、会称、会算的边缘终端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616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pic>
        <p:nvPicPr>
          <p:cNvPr id="2097153" name="图片 24"/>
          <p:cNvPicPr>
            <a:picLocks noChangeAspect="1"/>
          </p:cNvPicPr>
          <p:nvPr/>
        </p:nvPicPr>
        <p:blipFill>
          <a:blip r:embed="rId1"/>
          <a:srcRect t="8295" b="8295"/>
          <a:stretch>
            <a:fillRect/>
          </a:stretch>
        </p:blipFill>
        <p:spPr>
          <a:xfrm>
            <a:off x="666750" y="1562100"/>
            <a:ext cx="5219700" cy="3276600"/>
          </a:xfrm>
          <a:prstGeom prst="roundRect">
            <a:avLst>
              <a:gd name="adj" fmla="val 1744"/>
            </a:avLst>
          </a:prstGeom>
        </p:spPr>
      </p:pic>
      <p:pic>
        <p:nvPicPr>
          <p:cNvPr id="2097154" name="图片 25"/>
          <p:cNvPicPr>
            <a:picLocks noChangeAspect="1"/>
          </p:cNvPicPr>
          <p:nvPr/>
        </p:nvPicPr>
        <p:blipFill>
          <a:blip r:embed="rId2"/>
          <a:srcRect t="22708" b="22708"/>
          <a:stretch>
            <a:fillRect/>
          </a:stretch>
        </p:blipFill>
        <p:spPr>
          <a:xfrm>
            <a:off x="6172200" y="1562100"/>
            <a:ext cx="5353050" cy="3276600"/>
          </a:xfrm>
          <a:prstGeom prst="roundRect">
            <a:avLst>
              <a:gd name="adj" fmla="val 1744"/>
            </a:avLst>
          </a:prstGeom>
        </p:spPr>
      </p:pic>
      <p:sp>
        <p:nvSpPr>
          <p:cNvPr id="1048617" name="椭圆 5"/>
          <p:cNvSpPr>
            <a:spLocks noGrp="1"/>
          </p:cNvSpPr>
          <p:nvPr/>
        </p:nvSpPr>
        <p:spPr>
          <a:xfrm>
            <a:off x="685800" y="5200650"/>
            <a:ext cx="114300" cy="114300"/>
          </a:xfrm>
          <a:prstGeom prst="ellipse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618" name="矩形 6"/>
          <p:cNvSpPr>
            <a:spLocks noGrp="1"/>
          </p:cNvSpPr>
          <p:nvPr/>
        </p:nvSpPr>
        <p:spPr>
          <a:xfrm>
            <a:off x="895350" y="50673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425" b="1">
                <a:solidFill>
                  <a:srgbClr val="111820"/>
                </a:solidFill>
              </a:defRPr>
            </a:pPr>
            <a:r>
              <a:rPr sz="1425" b="1">
                <a:solidFill>
                  <a:srgbClr val="111820"/>
                </a:solidFill>
              </a:rPr>
              <a:t>ESP32-P4</a:t>
            </a:r>
            <a:endParaRPr sz="1425" b="1">
              <a:solidFill>
                <a:srgbClr val="111820"/>
              </a:solidFill>
            </a:endParaRPr>
          </a:p>
        </p:txBody>
      </p:sp>
      <p:sp>
        <p:nvSpPr>
          <p:cNvPr id="1048619" name="矩形 7"/>
          <p:cNvSpPr>
            <a:spLocks noGrp="1"/>
          </p:cNvSpPr>
          <p:nvPr/>
        </p:nvSpPr>
        <p:spPr>
          <a:xfrm>
            <a:off x="895350" y="5391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00" b="0">
                <a:solidFill>
                  <a:srgbClr val="68727A"/>
                </a:solidFill>
              </a:defRPr>
            </a:pPr>
            <a:r>
              <a:rPr sz="1200" b="0">
                <a:solidFill>
                  <a:srgbClr val="68727A"/>
                </a:solidFill>
              </a:rPr>
              <a:t>360MHz双核RISC-V</a:t>
            </a:r>
            <a:endParaRPr sz="1200" b="0">
              <a:solidFill>
                <a:srgbClr val="68727A"/>
              </a:solidFill>
            </a:endParaRPr>
          </a:p>
        </p:txBody>
      </p:sp>
      <p:sp>
        <p:nvSpPr>
          <p:cNvPr id="1048620" name="椭圆 8"/>
          <p:cNvSpPr>
            <a:spLocks noGrp="1"/>
          </p:cNvSpPr>
          <p:nvPr/>
        </p:nvSpPr>
        <p:spPr>
          <a:xfrm>
            <a:off x="3409950" y="5200650"/>
            <a:ext cx="114300" cy="114300"/>
          </a:xfrm>
          <a:prstGeom prst="ellipse">
            <a:avLst/>
          </a:prstGeom>
          <a:solidFill>
            <a:srgbClr val="285ED3"/>
          </a:solidFill>
          <a:ln w="0">
            <a:noFill/>
            <a:prstDash val="solid"/>
          </a:ln>
        </p:spPr>
      </p:sp>
      <p:sp>
        <p:nvSpPr>
          <p:cNvPr id="1048621" name="矩形 9"/>
          <p:cNvSpPr>
            <a:spLocks noGrp="1"/>
          </p:cNvSpPr>
          <p:nvPr/>
        </p:nvSpPr>
        <p:spPr>
          <a:xfrm>
            <a:off x="3619500" y="50673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425" b="1">
                <a:solidFill>
                  <a:srgbClr val="111820"/>
                </a:solidFill>
              </a:defRPr>
            </a:pPr>
            <a:r>
              <a:rPr sz="1425" b="1">
                <a:solidFill>
                  <a:srgbClr val="111820"/>
                </a:solidFill>
              </a:rPr>
              <a:t>摄像头</a:t>
            </a:r>
            <a:endParaRPr sz="1425" b="1">
              <a:solidFill>
                <a:srgbClr val="111820"/>
              </a:solidFill>
            </a:endParaRPr>
          </a:p>
        </p:txBody>
      </p:sp>
      <p:sp>
        <p:nvSpPr>
          <p:cNvPr id="1048622" name="矩形 10"/>
          <p:cNvSpPr>
            <a:spLocks noGrp="1"/>
          </p:cNvSpPr>
          <p:nvPr/>
        </p:nvSpPr>
        <p:spPr>
          <a:xfrm>
            <a:off x="3619500" y="5391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00" b="0">
                <a:solidFill>
                  <a:srgbClr val="68727A"/>
                </a:solidFill>
              </a:defRPr>
            </a:pPr>
            <a:r>
              <a:rPr sz="1200" b="0">
                <a:solidFill>
                  <a:srgbClr val="68727A"/>
                </a:solidFill>
              </a:rPr>
              <a:t>YOLO11n端侧识别</a:t>
            </a:r>
            <a:endParaRPr sz="1200" b="0">
              <a:solidFill>
                <a:srgbClr val="68727A"/>
              </a:solidFill>
            </a:endParaRPr>
          </a:p>
        </p:txBody>
      </p:sp>
      <p:sp>
        <p:nvSpPr>
          <p:cNvPr id="1048623" name="椭圆 11"/>
          <p:cNvSpPr>
            <a:spLocks noGrp="1"/>
          </p:cNvSpPr>
          <p:nvPr/>
        </p:nvSpPr>
        <p:spPr>
          <a:xfrm>
            <a:off x="6134100" y="5200650"/>
            <a:ext cx="114300" cy="114300"/>
          </a:xfrm>
          <a:prstGeom prst="ellipse">
            <a:avLst/>
          </a:prstGeom>
          <a:solidFill>
            <a:srgbClr val="D69D16"/>
          </a:solidFill>
          <a:ln w="0">
            <a:noFill/>
            <a:prstDash val="solid"/>
          </a:ln>
        </p:spPr>
      </p:sp>
      <p:sp>
        <p:nvSpPr>
          <p:cNvPr id="1048624" name="矩形 12"/>
          <p:cNvSpPr>
            <a:spLocks noGrp="1"/>
          </p:cNvSpPr>
          <p:nvPr/>
        </p:nvSpPr>
        <p:spPr>
          <a:xfrm>
            <a:off x="6343650" y="50673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425" b="1">
                <a:solidFill>
                  <a:srgbClr val="111820"/>
                </a:solidFill>
              </a:defRPr>
            </a:pPr>
            <a:r>
              <a:rPr sz="1425" b="1">
                <a:solidFill>
                  <a:srgbClr val="111820"/>
                </a:solidFill>
              </a:rPr>
              <a:t>HX711</a:t>
            </a:r>
            <a:endParaRPr sz="1425" b="1">
              <a:solidFill>
                <a:srgbClr val="111820"/>
              </a:solidFill>
            </a:endParaRPr>
          </a:p>
        </p:txBody>
      </p:sp>
      <p:sp>
        <p:nvSpPr>
          <p:cNvPr id="1048625" name="矩形 13"/>
          <p:cNvSpPr>
            <a:spLocks noGrp="1"/>
          </p:cNvSpPr>
          <p:nvPr/>
        </p:nvSpPr>
        <p:spPr>
          <a:xfrm>
            <a:off x="6343650" y="5391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00" b="0">
                <a:solidFill>
                  <a:srgbClr val="68727A"/>
                </a:solidFill>
              </a:defRPr>
            </a:pPr>
            <a:r>
              <a:rPr sz="1200" b="0">
                <a:solidFill>
                  <a:srgbClr val="68727A"/>
                </a:solidFill>
              </a:rPr>
              <a:t>24位ADC精确称重</a:t>
            </a:r>
            <a:endParaRPr sz="1200" b="0">
              <a:solidFill>
                <a:srgbClr val="68727A"/>
              </a:solidFill>
            </a:endParaRPr>
          </a:p>
        </p:txBody>
      </p:sp>
      <p:sp>
        <p:nvSpPr>
          <p:cNvPr id="1048626" name="椭圆 14"/>
          <p:cNvSpPr>
            <a:spLocks noGrp="1"/>
          </p:cNvSpPr>
          <p:nvPr/>
        </p:nvSpPr>
        <p:spPr>
          <a:xfrm>
            <a:off x="8858250" y="5200650"/>
            <a:ext cx="114300" cy="114300"/>
          </a:xfrm>
          <a:prstGeom prst="ellipse">
            <a:avLst/>
          </a:prstGeom>
          <a:solidFill>
            <a:srgbClr val="16865A"/>
          </a:solidFill>
          <a:ln w="0">
            <a:noFill/>
            <a:prstDash val="solid"/>
          </a:ln>
        </p:spPr>
      </p:sp>
      <p:sp>
        <p:nvSpPr>
          <p:cNvPr id="1048627" name="矩形 15"/>
          <p:cNvSpPr>
            <a:spLocks noGrp="1"/>
          </p:cNvSpPr>
          <p:nvPr/>
        </p:nvSpPr>
        <p:spPr>
          <a:xfrm>
            <a:off x="9067800" y="50673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425" b="1">
                <a:solidFill>
                  <a:srgbClr val="111820"/>
                </a:solidFill>
              </a:defRPr>
            </a:pPr>
            <a:r>
              <a:rPr sz="1425" b="1">
                <a:solidFill>
                  <a:srgbClr val="111820"/>
                </a:solidFill>
              </a:rPr>
              <a:t>触控屏</a:t>
            </a:r>
            <a:endParaRPr sz="1425" b="1">
              <a:solidFill>
                <a:srgbClr val="111820"/>
              </a:solidFill>
            </a:endParaRPr>
          </a:p>
        </p:txBody>
      </p:sp>
      <p:sp>
        <p:nvSpPr>
          <p:cNvPr id="1048628" name="矩形 16"/>
          <p:cNvSpPr>
            <a:spLocks noGrp="1"/>
          </p:cNvSpPr>
          <p:nvPr/>
        </p:nvSpPr>
        <p:spPr>
          <a:xfrm>
            <a:off x="9067800" y="5391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00" b="0">
                <a:solidFill>
                  <a:srgbClr val="68727A"/>
                </a:solidFill>
              </a:defRPr>
            </a:pPr>
            <a:r>
              <a:rPr sz="1200" b="0">
                <a:solidFill>
                  <a:srgbClr val="68727A"/>
                </a:solidFill>
              </a:rPr>
              <a:t>480×640交互显示</a:t>
            </a:r>
            <a:endParaRPr sz="1200" b="0">
              <a:solidFill>
                <a:srgbClr val="68727A"/>
              </a:solidFill>
            </a:endParaRPr>
          </a:p>
        </p:txBody>
      </p:sp>
      <p:sp>
        <p:nvSpPr>
          <p:cNvPr id="1048629" name="矩形 17"/>
          <p:cNvSpPr>
            <a:spLocks noGrp="1"/>
          </p:cNvSpPr>
          <p:nvPr/>
        </p:nvSpPr>
        <p:spPr>
          <a:xfrm>
            <a:off x="666750" y="5905500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800" b="1">
                <a:solidFill>
                  <a:srgbClr val="111820"/>
                </a:solidFill>
              </a:defRPr>
            </a:pPr>
            <a:r>
              <a:rPr sz="1800" b="1">
                <a:solidFill>
                  <a:srgbClr val="111820"/>
                </a:solidFill>
              </a:rPr>
              <a:t>多传感器融合，就地完成识别、称量与计算</a:t>
            </a:r>
            <a:endParaRPr sz="1800" b="1">
              <a:solidFill>
                <a:srgbClr val="111820"/>
              </a:solidFill>
            </a:endParaRPr>
          </a:p>
        </p:txBody>
      </p:sp>
      <p:sp>
        <p:nvSpPr>
          <p:cNvPr id="1048630" name="矩形 18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631" name="矩形 19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632" name="矩形 20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04</a:t>
            </a:r>
            <a:endParaRPr sz="825" b="1">
              <a:solidFill>
                <a:srgbClr val="68727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32" name=""/>
        <p:cNvGrpSpPr/>
        <p:nvPr/>
      </p:nvGrpSpPr>
      <p:grpSpPr/>
      <p:sp>
        <p:nvSpPr>
          <p:cNvPr id="1048693" name="矩形 34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05  物间事务运作机制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694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sz="3000" b="1">
                <a:solidFill>
                  <a:srgbClr val="111820"/>
                </a:solidFill>
              </a:rPr>
              <a:t>从锅边到建议，一条数据完成闭环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695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696" name="椭圆 3"/>
          <p:cNvSpPr>
            <a:spLocks noGrp="1"/>
          </p:cNvSpPr>
          <p:nvPr/>
        </p:nvSpPr>
        <p:spPr>
          <a:xfrm>
            <a:off x="1219200" y="2114550"/>
            <a:ext cx="876300" cy="876300"/>
          </a:xfrm>
          <a:prstGeom prst="ellipse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697" name="矩形 4"/>
          <p:cNvSpPr>
            <a:spLocks noGrp="1"/>
          </p:cNvSpPr>
          <p:nvPr/>
        </p:nvSpPr>
        <p:spPr>
          <a:xfrm>
            <a:off x="1219200" y="2333625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01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048698" name="矩形 5"/>
          <p:cNvSpPr>
            <a:spLocks noGrp="1"/>
          </p:cNvSpPr>
          <p:nvPr/>
        </p:nvSpPr>
        <p:spPr>
          <a:xfrm>
            <a:off x="685800" y="32004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设备感知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699" name="矩形 6"/>
          <p:cNvSpPr>
            <a:spLocks noGrp="1"/>
          </p:cNvSpPr>
          <p:nvPr/>
        </p:nvSpPr>
        <p:spPr>
          <a:xfrm>
            <a:off x="762000" y="3638550"/>
            <a:ext cx="1790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0">
                <a:solidFill>
                  <a:srgbClr val="68727A"/>
                </a:solidFill>
              </a:defRPr>
            </a:pPr>
            <a:r>
              <a:rPr sz="1275" b="0">
                <a:solidFill>
                  <a:srgbClr val="68727A"/>
                </a:solidFill>
              </a:rPr>
              <a:t>放 / 称 / 选 / 得</a:t>
            </a:r>
            <a:endParaRPr sz="1275" b="0">
              <a:solidFill>
                <a:srgbClr val="68727A"/>
              </a:solidFill>
            </a:endParaRPr>
          </a:p>
        </p:txBody>
      </p:sp>
      <p:sp>
        <p:nvSpPr>
          <p:cNvPr id="1048700" name="燕尾形 7"/>
          <p:cNvSpPr>
            <a:spLocks noGrp="1"/>
          </p:cNvSpPr>
          <p:nvPr/>
        </p:nvSpPr>
        <p:spPr>
          <a:xfrm>
            <a:off x="2495550" y="2400300"/>
            <a:ext cx="247650" cy="285750"/>
          </a:xfrm>
          <a:prstGeom prst="chevron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01" name="椭圆 8"/>
          <p:cNvSpPr>
            <a:spLocks noGrp="1"/>
          </p:cNvSpPr>
          <p:nvPr/>
        </p:nvSpPr>
        <p:spPr>
          <a:xfrm>
            <a:off x="3371850" y="2114550"/>
            <a:ext cx="876300" cy="876300"/>
          </a:xfrm>
          <a:prstGeom prst="ellipse">
            <a:avLst/>
          </a:prstGeom>
          <a:solidFill>
            <a:srgbClr val="D69D16"/>
          </a:solidFill>
          <a:ln w="0">
            <a:noFill/>
            <a:prstDash val="solid"/>
          </a:ln>
        </p:spPr>
      </p:sp>
      <p:sp>
        <p:nvSpPr>
          <p:cNvPr id="1048702" name="矩形 9"/>
          <p:cNvSpPr>
            <a:spLocks noGrp="1"/>
          </p:cNvSpPr>
          <p:nvPr/>
        </p:nvSpPr>
        <p:spPr>
          <a:xfrm>
            <a:off x="3371850" y="2333625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02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048703" name="矩形 10"/>
          <p:cNvSpPr>
            <a:spLocks noGrp="1"/>
          </p:cNvSpPr>
          <p:nvPr/>
        </p:nvSpPr>
        <p:spPr>
          <a:xfrm>
            <a:off x="2838450" y="32004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端侧计算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704" name="矩形 11"/>
          <p:cNvSpPr>
            <a:spLocks noGrp="1"/>
          </p:cNvSpPr>
          <p:nvPr/>
        </p:nvSpPr>
        <p:spPr>
          <a:xfrm>
            <a:off x="2914650" y="3638550"/>
            <a:ext cx="1790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0">
                <a:solidFill>
                  <a:srgbClr val="68727A"/>
                </a:solidFill>
              </a:defRPr>
            </a:pPr>
            <a:r>
              <a:rPr sz="1275" b="0">
                <a:solidFill>
                  <a:srgbClr val="68727A"/>
                </a:solidFill>
              </a:rPr>
              <a:t>营养结果即时生成</a:t>
            </a:r>
            <a:endParaRPr sz="1275" b="0">
              <a:solidFill>
                <a:srgbClr val="68727A"/>
              </a:solidFill>
            </a:endParaRPr>
          </a:p>
        </p:txBody>
      </p:sp>
      <p:sp>
        <p:nvSpPr>
          <p:cNvPr id="1048705" name="燕尾形 12"/>
          <p:cNvSpPr>
            <a:spLocks noGrp="1"/>
          </p:cNvSpPr>
          <p:nvPr/>
        </p:nvSpPr>
        <p:spPr>
          <a:xfrm>
            <a:off x="4648200" y="2400300"/>
            <a:ext cx="247650" cy="285750"/>
          </a:xfrm>
          <a:prstGeom prst="chevron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06" name="椭圆 13"/>
          <p:cNvSpPr>
            <a:spLocks noGrp="1"/>
          </p:cNvSpPr>
          <p:nvPr/>
        </p:nvSpPr>
        <p:spPr>
          <a:xfrm>
            <a:off x="5524500" y="2114550"/>
            <a:ext cx="876300" cy="876300"/>
          </a:xfrm>
          <a:prstGeom prst="ellipse">
            <a:avLst/>
          </a:prstGeom>
          <a:solidFill>
            <a:srgbClr val="285ED3"/>
          </a:solidFill>
          <a:ln w="0">
            <a:noFill/>
            <a:prstDash val="solid"/>
          </a:ln>
        </p:spPr>
      </p:sp>
      <p:sp>
        <p:nvSpPr>
          <p:cNvPr id="1048707" name="矩形 14"/>
          <p:cNvSpPr>
            <a:spLocks noGrp="1"/>
          </p:cNvSpPr>
          <p:nvPr/>
        </p:nvSpPr>
        <p:spPr>
          <a:xfrm>
            <a:off x="5524500" y="2333625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03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048708" name="矩形 15"/>
          <p:cNvSpPr>
            <a:spLocks noGrp="1"/>
          </p:cNvSpPr>
          <p:nvPr/>
        </p:nvSpPr>
        <p:spPr>
          <a:xfrm>
            <a:off x="4991100" y="32004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云端沉淀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709" name="矩形 16"/>
          <p:cNvSpPr>
            <a:spLocks noGrp="1"/>
          </p:cNvSpPr>
          <p:nvPr/>
        </p:nvSpPr>
        <p:spPr>
          <a:xfrm>
            <a:off x="5067300" y="3638550"/>
            <a:ext cx="1790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0">
                <a:solidFill>
                  <a:srgbClr val="68727A"/>
                </a:solidFill>
              </a:defRPr>
            </a:pPr>
            <a:r>
              <a:rPr sz="1275" b="0">
                <a:solidFill>
                  <a:srgbClr val="68727A"/>
                </a:solidFill>
              </a:rPr>
              <a:t>餐食入库与分层聚合</a:t>
            </a:r>
            <a:endParaRPr sz="1275" b="0">
              <a:solidFill>
                <a:srgbClr val="68727A"/>
              </a:solidFill>
            </a:endParaRPr>
          </a:p>
        </p:txBody>
      </p:sp>
      <p:sp>
        <p:nvSpPr>
          <p:cNvPr id="1048710" name="燕尾形 17"/>
          <p:cNvSpPr>
            <a:spLocks noGrp="1"/>
          </p:cNvSpPr>
          <p:nvPr/>
        </p:nvSpPr>
        <p:spPr>
          <a:xfrm>
            <a:off x="6800850" y="2400300"/>
            <a:ext cx="247650" cy="285750"/>
          </a:xfrm>
          <a:prstGeom prst="chevron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11" name="椭圆 18"/>
          <p:cNvSpPr>
            <a:spLocks noGrp="1"/>
          </p:cNvSpPr>
          <p:nvPr/>
        </p:nvSpPr>
        <p:spPr>
          <a:xfrm>
            <a:off x="7677150" y="2114550"/>
            <a:ext cx="876300" cy="876300"/>
          </a:xfrm>
          <a:prstGeom prst="ellipse">
            <a:avLst/>
          </a:prstGeom>
          <a:solidFill>
            <a:srgbClr val="70558E"/>
          </a:solidFill>
          <a:ln w="0">
            <a:noFill/>
            <a:prstDash val="solid"/>
          </a:ln>
        </p:spPr>
      </p:sp>
      <p:sp>
        <p:nvSpPr>
          <p:cNvPr id="1048712" name="矩形 19"/>
          <p:cNvSpPr>
            <a:spLocks noGrp="1"/>
          </p:cNvSpPr>
          <p:nvPr/>
        </p:nvSpPr>
        <p:spPr>
          <a:xfrm>
            <a:off x="7677150" y="2333625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04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048713" name="矩形 20"/>
          <p:cNvSpPr>
            <a:spLocks noGrp="1"/>
          </p:cNvSpPr>
          <p:nvPr/>
        </p:nvSpPr>
        <p:spPr>
          <a:xfrm>
            <a:off x="7143750" y="32004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AI</a:t>
            </a:r>
            <a:r>
              <a:rPr sz="1725" b="1">
                <a:solidFill>
                  <a:srgbClr val="111820"/>
                </a:solidFill>
              </a:rPr>
              <a:t>赋能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714" name="矩形 21"/>
          <p:cNvSpPr>
            <a:spLocks noGrp="1"/>
          </p:cNvSpPr>
          <p:nvPr/>
        </p:nvSpPr>
        <p:spPr>
          <a:xfrm>
            <a:off x="7219950" y="3638550"/>
            <a:ext cx="1790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0">
                <a:solidFill>
                  <a:srgbClr val="68727A"/>
                </a:solidFill>
              </a:defRPr>
            </a:pPr>
            <a:r>
              <a:rPr sz="1275" b="0">
                <a:solidFill>
                  <a:srgbClr val="68727A"/>
                </a:solidFill>
              </a:rPr>
              <a:t>RAG检索与个性化建议</a:t>
            </a:r>
            <a:endParaRPr sz="1275" b="0">
              <a:solidFill>
                <a:srgbClr val="68727A"/>
              </a:solidFill>
            </a:endParaRPr>
          </a:p>
        </p:txBody>
      </p:sp>
      <p:sp>
        <p:nvSpPr>
          <p:cNvPr id="1048715" name="燕尾形 22"/>
          <p:cNvSpPr>
            <a:spLocks noGrp="1"/>
          </p:cNvSpPr>
          <p:nvPr/>
        </p:nvSpPr>
        <p:spPr>
          <a:xfrm>
            <a:off x="8953500" y="2400300"/>
            <a:ext cx="247650" cy="285750"/>
          </a:xfrm>
          <a:prstGeom prst="chevron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16" name="椭圆 23"/>
          <p:cNvSpPr>
            <a:spLocks noGrp="1"/>
          </p:cNvSpPr>
          <p:nvPr/>
        </p:nvSpPr>
        <p:spPr>
          <a:xfrm>
            <a:off x="9829800" y="2114550"/>
            <a:ext cx="876300" cy="876300"/>
          </a:xfrm>
          <a:prstGeom prst="ellipse">
            <a:avLst/>
          </a:prstGeom>
          <a:solidFill>
            <a:srgbClr val="16865A"/>
          </a:solidFill>
          <a:ln w="0">
            <a:noFill/>
            <a:prstDash val="solid"/>
          </a:ln>
        </p:spPr>
      </p:sp>
      <p:sp>
        <p:nvSpPr>
          <p:cNvPr id="1048717" name="矩形 24"/>
          <p:cNvSpPr>
            <a:spLocks noGrp="1"/>
          </p:cNvSpPr>
          <p:nvPr/>
        </p:nvSpPr>
        <p:spPr>
          <a:xfrm>
            <a:off x="9829800" y="2333625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05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048718" name="矩形 25"/>
          <p:cNvSpPr>
            <a:spLocks noGrp="1"/>
          </p:cNvSpPr>
          <p:nvPr/>
        </p:nvSpPr>
        <p:spPr>
          <a:xfrm>
            <a:off x="9296400" y="320040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用户查看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719" name="矩形 26"/>
          <p:cNvSpPr>
            <a:spLocks noGrp="1"/>
          </p:cNvSpPr>
          <p:nvPr/>
        </p:nvSpPr>
        <p:spPr>
          <a:xfrm>
            <a:off x="9372600" y="3638550"/>
            <a:ext cx="1790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275" b="0">
                <a:solidFill>
                  <a:srgbClr val="68727A"/>
                </a:solidFill>
              </a:defRPr>
            </a:pPr>
            <a:r>
              <a:rPr sz="1275" b="0">
                <a:solidFill>
                  <a:srgbClr val="68727A"/>
                </a:solidFill>
              </a:rPr>
              <a:t>Web / App呈现</a:t>
            </a:r>
            <a:endParaRPr sz="1275" b="0">
              <a:solidFill>
                <a:srgbClr val="68727A"/>
              </a:solidFill>
            </a:endParaRPr>
          </a:p>
        </p:txBody>
      </p:sp>
      <p:sp>
        <p:nvSpPr>
          <p:cNvPr id="1048720" name="矩形 27"/>
          <p:cNvSpPr>
            <a:spLocks noGrp="1"/>
          </p:cNvSpPr>
          <p:nvPr/>
        </p:nvSpPr>
        <p:spPr>
          <a:xfrm>
            <a:off x="1390650" y="4724400"/>
            <a:ext cx="9410700" cy="19050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721" name="矩形 28"/>
          <p:cNvSpPr>
            <a:spLocks noGrp="1"/>
          </p:cNvSpPr>
          <p:nvPr/>
        </p:nvSpPr>
        <p:spPr>
          <a:xfrm>
            <a:off x="1485900" y="49720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800" b="1">
                <a:solidFill>
                  <a:srgbClr val="E44732"/>
                </a:solidFill>
              </a:defRPr>
            </a:pPr>
            <a:r>
              <a:rPr sz="1800" b="1">
                <a:solidFill>
                  <a:srgbClr val="E44732"/>
                </a:solidFill>
              </a:rPr>
              <a:t>实时闭环留在端侧</a:t>
            </a:r>
            <a:endParaRPr sz="1800" b="1">
              <a:solidFill>
                <a:srgbClr val="E44732"/>
              </a:solidFill>
            </a:endParaRPr>
          </a:p>
        </p:txBody>
      </p:sp>
      <p:sp>
        <p:nvSpPr>
          <p:cNvPr id="1048722" name="矩形 29"/>
          <p:cNvSpPr>
            <a:spLocks noGrp="1"/>
          </p:cNvSpPr>
          <p:nvPr/>
        </p:nvSpPr>
        <p:spPr>
          <a:xfrm>
            <a:off x="7810500" y="49720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1800" b="1">
                <a:solidFill>
                  <a:srgbClr val="16865A"/>
                </a:solidFill>
              </a:defRPr>
            </a:pPr>
            <a:r>
              <a:rPr sz="1800" b="1">
                <a:solidFill>
                  <a:srgbClr val="16865A"/>
                </a:solidFill>
              </a:rPr>
              <a:t>长期认知交给云端</a:t>
            </a:r>
            <a:endParaRPr sz="1800" b="1">
              <a:solidFill>
                <a:srgbClr val="16865A"/>
              </a:solidFill>
            </a:endParaRPr>
          </a:p>
        </p:txBody>
      </p:sp>
      <p:sp>
        <p:nvSpPr>
          <p:cNvPr id="1048723" name="矩形 30"/>
          <p:cNvSpPr>
            <a:spLocks noGrp="1"/>
          </p:cNvSpPr>
          <p:nvPr/>
        </p:nvSpPr>
        <p:spPr>
          <a:xfrm>
            <a:off x="2381250" y="5562600"/>
            <a:ext cx="742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950" b="1">
                <a:solidFill>
                  <a:srgbClr val="111820"/>
                </a:solidFill>
              </a:defRPr>
            </a:pPr>
            <a:r>
              <a:rPr sz="1950" b="1">
                <a:solidFill>
                  <a:srgbClr val="111820"/>
                </a:solidFill>
              </a:rPr>
              <a:t>每一餐不止被记录，还会进入后续分析与规划</a:t>
            </a:r>
            <a:endParaRPr sz="1950" b="1">
              <a:solidFill>
                <a:srgbClr val="111820"/>
              </a:solidFill>
            </a:endParaRPr>
          </a:p>
        </p:txBody>
      </p:sp>
      <p:sp>
        <p:nvSpPr>
          <p:cNvPr id="1048724" name="矩形 31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725" name="矩形 32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726" name="矩形 33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06</a:t>
            </a:r>
            <a:endParaRPr sz="825" b="1">
              <a:solidFill>
                <a:srgbClr val="68727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35" name=""/>
        <p:cNvGrpSpPr/>
        <p:nvPr/>
      </p:nvGrpSpPr>
      <p:grpSpPr/>
      <p:sp>
        <p:nvSpPr>
          <p:cNvPr id="1048730" name="矩形 27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06  针对性创新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731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sz="3000" b="1">
                <a:solidFill>
                  <a:srgbClr val="111820"/>
                </a:solidFill>
              </a:rPr>
              <a:t>创新不是堆技术，而是把计算放在合适的位置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732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33" name="圆角矩形 3"/>
          <p:cNvSpPr>
            <a:spLocks noGrp="1"/>
          </p:cNvSpPr>
          <p:nvPr/>
        </p:nvSpPr>
        <p:spPr>
          <a:xfrm>
            <a:off x="685800" y="1619250"/>
            <a:ext cx="5143500" cy="2305050"/>
          </a:xfrm>
          <a:prstGeom prst="roundRect">
            <a:avLst>
              <a:gd name="adj" fmla="val 2479"/>
            </a:avLst>
          </a:prstGeom>
          <a:solidFill>
            <a:srgbClr val="FBEAE6"/>
          </a:solidFill>
          <a:ln w="0">
            <a:noFill/>
            <a:prstDash val="solid"/>
          </a:ln>
        </p:spPr>
      </p:sp>
      <p:sp>
        <p:nvSpPr>
          <p:cNvPr id="1048734" name="矩形 4"/>
          <p:cNvSpPr>
            <a:spLocks noGrp="1"/>
          </p:cNvSpPr>
          <p:nvPr/>
        </p:nvSpPr>
        <p:spPr>
          <a:xfrm>
            <a:off x="990600" y="18859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875" b="1">
                <a:solidFill>
                  <a:srgbClr val="E44732"/>
                </a:solidFill>
              </a:defRPr>
            </a:pPr>
            <a:r>
              <a:rPr sz="1875" b="1">
                <a:solidFill>
                  <a:srgbClr val="E44732"/>
                </a:solidFill>
              </a:rPr>
              <a:t>端侧 · </a:t>
            </a:r>
            <a:r>
              <a:rPr sz="1875" b="1">
                <a:solidFill>
                  <a:srgbClr val="E44732"/>
                </a:solidFill>
              </a:rPr>
              <a:t>方便</a:t>
            </a:r>
            <a:endParaRPr sz="1875" b="1">
              <a:solidFill>
                <a:srgbClr val="E44732"/>
              </a:solidFill>
            </a:endParaRPr>
          </a:p>
        </p:txBody>
      </p:sp>
      <p:sp>
        <p:nvSpPr>
          <p:cNvPr id="1048735" name="矩形 5"/>
          <p:cNvSpPr>
            <a:spLocks noGrp="1"/>
          </p:cNvSpPr>
          <p:nvPr/>
        </p:nvSpPr>
        <p:spPr>
          <a:xfrm>
            <a:off x="990600" y="2343150"/>
            <a:ext cx="580453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450" b="1">
                <a:solidFill>
                  <a:srgbClr val="111820"/>
                </a:solidFill>
              </a:defRPr>
            </a:pPr>
            <a:r>
              <a:rPr sz="3450" b="1">
                <a:solidFill>
                  <a:srgbClr val="111820"/>
                </a:solidFill>
              </a:rPr>
              <a:t>无感操作</a:t>
            </a:r>
            <a:endParaRPr sz="3450" b="1">
              <a:solidFill>
                <a:srgbClr val="111820"/>
              </a:solidFill>
            </a:endParaRPr>
          </a:p>
        </p:txBody>
      </p:sp>
      <p:sp>
        <p:nvSpPr>
          <p:cNvPr id="1048736" name="矩形 6"/>
          <p:cNvSpPr>
            <a:spLocks noGrp="1"/>
          </p:cNvSpPr>
          <p:nvPr/>
        </p:nvSpPr>
        <p:spPr>
          <a:xfrm>
            <a:off x="990600" y="3028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350" b="0">
                <a:solidFill>
                  <a:srgbClr val="68727A"/>
                </a:solidFill>
              </a:defRPr>
            </a:pPr>
            <a:r>
              <a:rPr sz="1350" b="0">
                <a:solidFill>
                  <a:srgbClr val="68727A"/>
                </a:solidFill>
              </a:rPr>
              <a:t>提升用户坚持率</a:t>
            </a:r>
            <a:endParaRPr sz="1350" b="0">
              <a:solidFill>
                <a:srgbClr val="68727A"/>
              </a:solidFill>
            </a:endParaRPr>
          </a:p>
          <a:p>
            <a:pPr algn="l">
              <a:buNone/>
              <a:defRPr sz="1350" b="0">
                <a:solidFill>
                  <a:srgbClr val="68727A"/>
                </a:solidFill>
              </a:defRPr>
            </a:pPr>
            <a:endParaRPr sz="1350" b="0">
              <a:solidFill>
                <a:srgbClr val="68727A"/>
              </a:solidFill>
            </a:endParaRPr>
          </a:p>
        </p:txBody>
      </p:sp>
      <p:sp>
        <p:nvSpPr>
          <p:cNvPr id="1048737" name="矩形 7"/>
          <p:cNvSpPr>
            <a:spLocks noGrp="1"/>
          </p:cNvSpPr>
          <p:nvPr/>
        </p:nvSpPr>
        <p:spPr>
          <a:xfrm>
            <a:off x="990600" y="3486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500" b="1">
                <a:solidFill>
                  <a:srgbClr val="111820"/>
                </a:solidFill>
              </a:defRPr>
            </a:pPr>
            <a:r>
              <a:rPr sz="1500" b="1">
                <a:solidFill>
                  <a:srgbClr val="111820"/>
                </a:solidFill>
              </a:rPr>
              <a:t>YOLO + LightGBM本地联动，不等待网络往返</a:t>
            </a:r>
            <a:endParaRPr sz="1500" b="1">
              <a:solidFill>
                <a:srgbClr val="111820"/>
              </a:solidFill>
            </a:endParaRPr>
          </a:p>
        </p:txBody>
      </p:sp>
      <p:sp>
        <p:nvSpPr>
          <p:cNvPr id="1048738" name="圆角矩形 8"/>
          <p:cNvSpPr>
            <a:spLocks noGrp="1"/>
          </p:cNvSpPr>
          <p:nvPr/>
        </p:nvSpPr>
        <p:spPr>
          <a:xfrm>
            <a:off x="6362700" y="1619250"/>
            <a:ext cx="5143500" cy="2305050"/>
          </a:xfrm>
          <a:prstGeom prst="roundRect">
            <a:avLst>
              <a:gd name="adj" fmla="val 2479"/>
            </a:avLst>
          </a:prstGeom>
          <a:solidFill>
            <a:srgbClr val="E4F2EA"/>
          </a:solidFill>
          <a:ln w="0">
            <a:noFill/>
            <a:prstDash val="solid"/>
          </a:ln>
        </p:spPr>
      </p:sp>
      <p:sp>
        <p:nvSpPr>
          <p:cNvPr id="1048739" name="矩形 9"/>
          <p:cNvSpPr>
            <a:spLocks noGrp="1"/>
          </p:cNvSpPr>
          <p:nvPr/>
        </p:nvSpPr>
        <p:spPr>
          <a:xfrm>
            <a:off x="6667500" y="18859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875" b="1">
                <a:solidFill>
                  <a:srgbClr val="16865A"/>
                </a:solidFill>
              </a:defRPr>
            </a:pPr>
            <a:r>
              <a:rPr sz="1875" b="1">
                <a:solidFill>
                  <a:srgbClr val="16865A"/>
                </a:solidFill>
              </a:rPr>
              <a:t>云端 · </a:t>
            </a:r>
            <a:r>
              <a:rPr sz="1875" b="1">
                <a:solidFill>
                  <a:srgbClr val="16865A"/>
                </a:solidFill>
              </a:rPr>
              <a:t>全面</a:t>
            </a:r>
            <a:endParaRPr sz="1875" b="1">
              <a:solidFill>
                <a:srgbClr val="16865A"/>
              </a:solidFill>
            </a:endParaRPr>
          </a:p>
        </p:txBody>
      </p:sp>
      <p:sp>
        <p:nvSpPr>
          <p:cNvPr id="1048740" name="矩形 10"/>
          <p:cNvSpPr>
            <a:spLocks noGrp="1"/>
          </p:cNvSpPr>
          <p:nvPr/>
        </p:nvSpPr>
        <p:spPr>
          <a:xfrm>
            <a:off x="6667500" y="240030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2850" b="1">
                <a:solidFill>
                  <a:srgbClr val="111820"/>
                </a:solidFill>
              </a:defRPr>
            </a:pPr>
            <a:r>
              <a:rPr sz="2850" b="1">
                <a:solidFill>
                  <a:srgbClr val="111820"/>
                </a:solidFill>
              </a:rPr>
              <a:t>RAG + 大模型</a:t>
            </a:r>
            <a:endParaRPr sz="2850" b="1">
              <a:solidFill>
                <a:srgbClr val="111820"/>
              </a:solidFill>
            </a:endParaRPr>
          </a:p>
        </p:txBody>
      </p:sp>
      <p:sp>
        <p:nvSpPr>
          <p:cNvPr id="1048741" name="矩形 11"/>
          <p:cNvSpPr>
            <a:spLocks noGrp="1"/>
          </p:cNvSpPr>
          <p:nvPr/>
        </p:nvSpPr>
        <p:spPr>
          <a:xfrm>
            <a:off x="6667500" y="3105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350" b="0">
                <a:solidFill>
                  <a:srgbClr val="68727A"/>
                </a:solidFill>
              </a:defRPr>
            </a:pPr>
            <a:r>
              <a:rPr sz="1350" b="0">
                <a:solidFill>
                  <a:srgbClr val="68727A"/>
                </a:solidFill>
              </a:rPr>
              <a:t>长期档案、知识检索、个性化规划</a:t>
            </a:r>
            <a:endParaRPr sz="1350" b="0">
              <a:solidFill>
                <a:srgbClr val="68727A"/>
              </a:solidFill>
            </a:endParaRPr>
          </a:p>
        </p:txBody>
      </p:sp>
      <p:sp>
        <p:nvSpPr>
          <p:cNvPr id="1048742" name="矩形 12"/>
          <p:cNvSpPr>
            <a:spLocks noGrp="1"/>
          </p:cNvSpPr>
          <p:nvPr/>
        </p:nvSpPr>
        <p:spPr>
          <a:xfrm>
            <a:off x="6667500" y="34861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500" b="1">
                <a:solidFill>
                  <a:srgbClr val="111820"/>
                </a:solidFill>
              </a:defRPr>
            </a:pPr>
            <a:r>
              <a:rPr sz="1500" b="1">
                <a:solidFill>
                  <a:srgbClr val="111820"/>
                </a:solidFill>
              </a:rPr>
              <a:t>计算资源与数据整合按需扩展</a:t>
            </a:r>
            <a:endParaRPr sz="1500" b="1">
              <a:solidFill>
                <a:srgbClr val="111820"/>
              </a:solidFill>
            </a:endParaRPr>
          </a:p>
        </p:txBody>
      </p:sp>
      <p:sp>
        <p:nvSpPr>
          <p:cNvPr id="1048743" name="椭圆 13"/>
          <p:cNvSpPr>
            <a:spLocks noGrp="1"/>
          </p:cNvSpPr>
          <p:nvPr/>
        </p:nvSpPr>
        <p:spPr>
          <a:xfrm>
            <a:off x="723900" y="4610100"/>
            <a:ext cx="152400" cy="152400"/>
          </a:xfrm>
          <a:prstGeom prst="ellipse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44" name="矩形 14"/>
          <p:cNvSpPr>
            <a:spLocks noGrp="1"/>
          </p:cNvSpPr>
          <p:nvPr/>
        </p:nvSpPr>
        <p:spPr>
          <a:xfrm>
            <a:off x="1009650" y="44958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动作即数据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745" name="矩形 15"/>
          <p:cNvSpPr>
            <a:spLocks noGrp="1"/>
          </p:cNvSpPr>
          <p:nvPr/>
        </p:nvSpPr>
        <p:spPr>
          <a:xfrm>
            <a:off x="1009650" y="49149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75" b="0">
                <a:solidFill>
                  <a:srgbClr val="68727A"/>
                </a:solidFill>
              </a:defRPr>
            </a:pPr>
            <a:r>
              <a:rPr sz="1275" b="0">
                <a:solidFill>
                  <a:srgbClr val="68727A"/>
                </a:solidFill>
              </a:rPr>
              <a:t>放、称、选自然完成采集</a:t>
            </a:r>
            <a:endParaRPr sz="1275" b="0">
              <a:solidFill>
                <a:srgbClr val="68727A"/>
              </a:solidFill>
            </a:endParaRPr>
          </a:p>
        </p:txBody>
      </p:sp>
      <p:sp>
        <p:nvSpPr>
          <p:cNvPr id="1048746" name="椭圆 19"/>
          <p:cNvSpPr>
            <a:spLocks noGrp="1"/>
          </p:cNvSpPr>
          <p:nvPr/>
        </p:nvSpPr>
        <p:spPr>
          <a:xfrm>
            <a:off x="7886700" y="4610100"/>
            <a:ext cx="152400" cy="152400"/>
          </a:xfrm>
          <a:prstGeom prst="ellipse">
            <a:avLst/>
          </a:prstGeom>
          <a:solidFill>
            <a:srgbClr val="16865A"/>
          </a:solidFill>
          <a:ln w="0">
            <a:noFill/>
            <a:prstDash val="solid"/>
          </a:ln>
        </p:spPr>
      </p:sp>
      <p:sp>
        <p:nvSpPr>
          <p:cNvPr id="1048747" name="矩形 20"/>
          <p:cNvSpPr>
            <a:spLocks noGrp="1"/>
          </p:cNvSpPr>
          <p:nvPr/>
        </p:nvSpPr>
        <p:spPr>
          <a:xfrm>
            <a:off x="8172450" y="44958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分层归档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748" name="矩形 21"/>
          <p:cNvSpPr>
            <a:spLocks noGrp="1"/>
          </p:cNvSpPr>
          <p:nvPr/>
        </p:nvSpPr>
        <p:spPr>
          <a:xfrm>
            <a:off x="8172450" y="49149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75" b="0">
                <a:solidFill>
                  <a:srgbClr val="68727A"/>
                </a:solidFill>
              </a:defRPr>
            </a:pPr>
            <a:r>
              <a:rPr sz="1275" b="0">
                <a:solidFill>
                  <a:srgbClr val="68727A"/>
                </a:solidFill>
              </a:rPr>
              <a:t>日 / 周 / 月 / 年长期可追溯</a:t>
            </a:r>
            <a:endParaRPr sz="1275" b="0">
              <a:solidFill>
                <a:srgbClr val="68727A"/>
              </a:solidFill>
            </a:endParaRPr>
          </a:p>
        </p:txBody>
      </p:sp>
      <p:sp>
        <p:nvSpPr>
          <p:cNvPr id="1048749" name="矩形 22"/>
          <p:cNvSpPr>
            <a:spLocks noGrp="1"/>
          </p:cNvSpPr>
          <p:nvPr/>
        </p:nvSpPr>
        <p:spPr>
          <a:xfrm>
            <a:off x="685800" y="5772150"/>
            <a:ext cx="10820400" cy="28575"/>
          </a:xfrm>
          <a:prstGeom prst="rect">
            <a:avLst/>
          </a:prstGeom>
          <a:solidFill>
            <a:srgbClr val="111820"/>
          </a:solidFill>
          <a:ln w="0">
            <a:noFill/>
            <a:prstDash val="solid"/>
          </a:ln>
        </p:spPr>
      </p:sp>
      <p:sp>
        <p:nvSpPr>
          <p:cNvPr id="1048750" name="矩形 23"/>
          <p:cNvSpPr>
            <a:spLocks noGrp="1"/>
          </p:cNvSpPr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buNone/>
              <a:defRPr sz="1800" b="1">
                <a:solidFill>
                  <a:srgbClr val="111820"/>
                </a:solidFill>
              </a:defRPr>
            </a:pPr>
            <a:r>
              <a:rPr sz="1800" b="1">
                <a:solidFill>
                  <a:srgbClr val="111820"/>
                </a:solidFill>
              </a:rPr>
              <a:t>端侧保证即时体验，云端承接长期认知</a:t>
            </a:r>
            <a:endParaRPr sz="1800" b="1">
              <a:solidFill>
                <a:srgbClr val="111820"/>
              </a:solidFill>
            </a:endParaRPr>
          </a:p>
        </p:txBody>
      </p:sp>
      <p:sp>
        <p:nvSpPr>
          <p:cNvPr id="1048751" name="矩形 24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752" name="矩形 25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753" name="矩形 26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07</a:t>
            </a:r>
            <a:endParaRPr sz="825" b="1">
              <a:solidFill>
                <a:srgbClr val="68727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38" name=""/>
        <p:cNvGrpSpPr/>
        <p:nvPr/>
      </p:nvGrpSpPr>
      <p:grpSpPr/>
      <p:sp>
        <p:nvSpPr>
          <p:cNvPr id="1048757" name="矩形 28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07  云端证据 · 数据看板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758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sz="3000" b="1">
                <a:solidFill>
                  <a:srgbClr val="111820"/>
                </a:solidFill>
              </a:rPr>
              <a:t>一餐上云后，先变成可追踪的营养趋势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759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60" name="矩形 25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761" name="矩形 26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762" name="矩形 27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08</a:t>
            </a:r>
            <a:endParaRPr sz="825" b="1">
              <a:solidFill>
                <a:srgbClr val="68727A"/>
              </a:solidFill>
            </a:endParaRPr>
          </a:p>
        </p:txBody>
      </p:sp>
      <p:sp>
        <p:nvSpPr>
          <p:cNvPr id="1048763" name="圆角矩形 29"/>
          <p:cNvSpPr>
            <a:spLocks noGrp="1"/>
          </p:cNvSpPr>
          <p:nvPr/>
        </p:nvSpPr>
        <p:spPr>
          <a:xfrm>
            <a:off x="666750" y="1504950"/>
            <a:ext cx="7677150" cy="438150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8DEDA"/>
            </a:solidFill>
            <a:prstDash val="solid"/>
          </a:ln>
        </p:spPr>
      </p:sp>
      <p:pic>
        <p:nvPicPr>
          <p:cNvPr id="2097156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37" y="1619250"/>
            <a:ext cx="6959575" cy="4152900"/>
          </a:xfrm>
          <a:prstGeom prst="roundRect">
            <a:avLst>
              <a:gd name="adj" fmla="val 1376"/>
            </a:avLst>
          </a:prstGeom>
        </p:spPr>
      </p:pic>
      <p:sp>
        <p:nvSpPr>
          <p:cNvPr id="1048764" name="圆角矩形 31"/>
          <p:cNvSpPr>
            <a:spLocks noGrp="1"/>
          </p:cNvSpPr>
          <p:nvPr/>
        </p:nvSpPr>
        <p:spPr>
          <a:xfrm>
            <a:off x="8629650" y="1581150"/>
            <a:ext cx="2895600" cy="4229100"/>
          </a:xfrm>
          <a:prstGeom prst="roundRect">
            <a:avLst>
              <a:gd name="adj" fmla="val 1974"/>
            </a:avLst>
          </a:prstGeom>
          <a:solidFill>
            <a:srgbClr val="E3F2E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48765" name="圆角矩形 32"/>
          <p:cNvSpPr>
            <a:spLocks noGrp="1"/>
          </p:cNvSpPr>
          <p:nvPr/>
        </p:nvSpPr>
        <p:spPr>
          <a:xfrm>
            <a:off x="8629650" y="1581150"/>
            <a:ext cx="57150" cy="4229100"/>
          </a:xfrm>
          <a:prstGeom prst="roundRect">
            <a:avLst>
              <a:gd name="adj" fmla="val 50000"/>
            </a:avLst>
          </a:prstGeom>
          <a:solidFill>
            <a:srgbClr val="16865A"/>
          </a:solidFill>
          <a:ln w="0">
            <a:noFill/>
            <a:prstDash val="solid"/>
          </a:ln>
        </p:spPr>
      </p:sp>
      <p:sp>
        <p:nvSpPr>
          <p:cNvPr id="1048766" name="矩形 33"/>
          <p:cNvSpPr>
            <a:spLocks noGrp="1"/>
          </p:cNvSpPr>
          <p:nvPr/>
        </p:nvSpPr>
        <p:spPr>
          <a:xfrm>
            <a:off x="8934450" y="184785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00" b="1">
                <a:solidFill>
                  <a:srgbClr val="16865A"/>
                </a:solidFill>
              </a:defRPr>
            </a:pPr>
            <a:r>
              <a:rPr sz="1200" b="1">
                <a:solidFill>
                  <a:srgbClr val="16865A"/>
                </a:solidFill>
              </a:rPr>
              <a:t>真实运行界面</a:t>
            </a:r>
            <a:endParaRPr sz="1200" b="1">
              <a:solidFill>
                <a:srgbClr val="16865A"/>
              </a:solidFill>
            </a:endParaRPr>
          </a:p>
        </p:txBody>
      </p:sp>
      <p:sp>
        <p:nvSpPr>
          <p:cNvPr id="1048767" name="矩形 34"/>
          <p:cNvSpPr>
            <a:spLocks noGrp="1"/>
          </p:cNvSpPr>
          <p:nvPr/>
        </p:nvSpPr>
        <p:spPr>
          <a:xfrm>
            <a:off x="8934450" y="2324100"/>
            <a:ext cx="2266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3150" b="1">
                <a:solidFill>
                  <a:srgbClr val="111820"/>
                </a:solidFill>
              </a:defRPr>
            </a:pPr>
            <a:r>
              <a:rPr lang="zh-CN" sz="3150" b="1">
                <a:solidFill>
                  <a:srgbClr val="111820"/>
                </a:solidFill>
                <a:ea typeface="宋体" panose="02010600030101010101" pitchFamily="2" charset="-122"/>
              </a:rPr>
              <a:t>数据总结</a:t>
            </a:r>
            <a:endParaRPr lang="zh-CN" sz="3150" b="1">
              <a:solidFill>
                <a:srgbClr val="111820"/>
              </a:solidFill>
              <a:ea typeface="宋体" panose="02010600030101010101" pitchFamily="2" charset="-122"/>
            </a:endParaRPr>
          </a:p>
        </p:txBody>
      </p:sp>
      <p:sp>
        <p:nvSpPr>
          <p:cNvPr id="1048768" name="矩形 35"/>
          <p:cNvSpPr>
            <a:spLocks noGrp="1"/>
          </p:cNvSpPr>
          <p:nvPr/>
        </p:nvSpPr>
        <p:spPr>
          <a:xfrm>
            <a:off x="8934450" y="3105150"/>
            <a:ext cx="22669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近期饮食一目了然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769" name="矩形 36"/>
          <p:cNvSpPr>
            <a:spLocks noGrp="1"/>
          </p:cNvSpPr>
          <p:nvPr/>
        </p:nvSpPr>
        <p:spPr>
          <a:xfrm>
            <a:off x="8934450" y="4019550"/>
            <a:ext cx="571500" cy="28575"/>
          </a:xfrm>
          <a:prstGeom prst="rect">
            <a:avLst/>
          </a:prstGeom>
          <a:solidFill>
            <a:srgbClr val="16865A"/>
          </a:solidFill>
          <a:ln w="0">
            <a:noFill/>
            <a:prstDash val="solid"/>
          </a:ln>
        </p:spPr>
      </p:sp>
      <p:sp>
        <p:nvSpPr>
          <p:cNvPr id="1048770" name="矩形 37"/>
          <p:cNvSpPr>
            <a:spLocks noGrp="1"/>
          </p:cNvSpPr>
          <p:nvPr/>
        </p:nvSpPr>
        <p:spPr>
          <a:xfrm>
            <a:off x="8934450" y="4286250"/>
            <a:ext cx="22669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75" b="0">
                <a:solidFill>
                  <a:srgbClr val="66717A"/>
                </a:solidFill>
              </a:defRPr>
            </a:pPr>
            <a:r>
              <a:rPr sz="1275" b="0">
                <a:solidFill>
                  <a:srgbClr val="66717A"/>
                </a:solidFill>
              </a:rPr>
              <a:t>热量、三大营养与常吃食物同步汇总。</a:t>
            </a:r>
            <a:endParaRPr sz="1275" b="0">
              <a:solidFill>
                <a:srgbClr val="66717A"/>
              </a:solidFill>
            </a:endParaRPr>
          </a:p>
          <a:p>
            <a:endParaRPr sz="1275"/>
          </a:p>
          <a:p>
            <a:pPr algn="l">
              <a:defRPr sz="1275" b="0">
                <a:solidFill>
                  <a:srgbClr val="66717A"/>
                </a:solidFill>
              </a:defRPr>
            </a:pPr>
            <a:r>
              <a:rPr sz="1275" b="0">
                <a:solidFill>
                  <a:srgbClr val="66717A"/>
                </a:solidFill>
              </a:rPr>
              <a:t>单次结果由此成为持续可读的数据资产。</a:t>
            </a:r>
            <a:endParaRPr sz="1275" b="0">
              <a:solidFill>
                <a:srgbClr val="66717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41" name=""/>
        <p:cNvGrpSpPr/>
        <p:nvPr/>
      </p:nvGrpSpPr>
      <p:grpSpPr/>
      <p:sp>
        <p:nvSpPr>
          <p:cNvPr id="1048774" name="矩形 28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08  云端证据 · 营养报告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775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sz="3000" b="1">
                <a:solidFill>
                  <a:srgbClr val="111820"/>
                </a:solidFill>
              </a:rPr>
              <a:t>记录被自动归档，而不是停留在流水账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776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77" name="矩形 25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778" name="矩形 26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779" name="矩形 27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09</a:t>
            </a:r>
            <a:endParaRPr sz="825" b="1">
              <a:solidFill>
                <a:srgbClr val="68727A"/>
              </a:solidFill>
            </a:endParaRPr>
          </a:p>
        </p:txBody>
      </p:sp>
      <p:sp>
        <p:nvSpPr>
          <p:cNvPr id="1048780" name="圆角矩形 29"/>
          <p:cNvSpPr>
            <a:spLocks noGrp="1"/>
          </p:cNvSpPr>
          <p:nvPr/>
        </p:nvSpPr>
        <p:spPr>
          <a:xfrm>
            <a:off x="666750" y="1504950"/>
            <a:ext cx="7677150" cy="438150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8DEDA"/>
            </a:solidFill>
            <a:prstDash val="solid"/>
          </a:ln>
        </p:spPr>
      </p:sp>
      <p:pic>
        <p:nvPicPr>
          <p:cNvPr id="2097157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37" y="1619250"/>
            <a:ext cx="6959575" cy="4152900"/>
          </a:xfrm>
          <a:prstGeom prst="roundRect">
            <a:avLst>
              <a:gd name="adj" fmla="val 1376"/>
            </a:avLst>
          </a:prstGeom>
        </p:spPr>
      </p:pic>
      <p:sp>
        <p:nvSpPr>
          <p:cNvPr id="1048781" name="圆角矩形 31"/>
          <p:cNvSpPr>
            <a:spLocks noGrp="1"/>
          </p:cNvSpPr>
          <p:nvPr/>
        </p:nvSpPr>
        <p:spPr>
          <a:xfrm>
            <a:off x="8629650" y="1581150"/>
            <a:ext cx="2895600" cy="4229100"/>
          </a:xfrm>
          <a:prstGeom prst="roundRect">
            <a:avLst>
              <a:gd name="adj" fmla="val 1974"/>
            </a:avLst>
          </a:prstGeom>
          <a:solidFill>
            <a:srgbClr val="E8EEF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48782" name="圆角矩形 32"/>
          <p:cNvSpPr>
            <a:spLocks noGrp="1"/>
          </p:cNvSpPr>
          <p:nvPr/>
        </p:nvSpPr>
        <p:spPr>
          <a:xfrm>
            <a:off x="8629650" y="1581150"/>
            <a:ext cx="57150" cy="4229100"/>
          </a:xfrm>
          <a:prstGeom prst="roundRect">
            <a:avLst>
              <a:gd name="adj" fmla="val 50000"/>
            </a:avLst>
          </a:prstGeom>
          <a:solidFill>
            <a:srgbClr val="2458D6"/>
          </a:solidFill>
          <a:ln w="0">
            <a:noFill/>
            <a:prstDash val="solid"/>
          </a:ln>
        </p:spPr>
      </p:sp>
      <p:sp>
        <p:nvSpPr>
          <p:cNvPr id="1048783" name="矩形 33"/>
          <p:cNvSpPr>
            <a:spLocks noGrp="1"/>
          </p:cNvSpPr>
          <p:nvPr/>
        </p:nvSpPr>
        <p:spPr>
          <a:xfrm>
            <a:off x="8934450" y="184785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00" b="1">
                <a:solidFill>
                  <a:srgbClr val="2458D6"/>
                </a:solidFill>
              </a:defRPr>
            </a:pPr>
            <a:r>
              <a:rPr sz="1200" b="1">
                <a:solidFill>
                  <a:srgbClr val="2458D6"/>
                </a:solidFill>
              </a:rPr>
              <a:t>自动聚合</a:t>
            </a:r>
            <a:endParaRPr sz="1200" b="1">
              <a:solidFill>
                <a:srgbClr val="2458D6"/>
              </a:solidFill>
            </a:endParaRPr>
          </a:p>
        </p:txBody>
      </p:sp>
      <p:sp>
        <p:nvSpPr>
          <p:cNvPr id="1048784" name="矩形 34"/>
          <p:cNvSpPr>
            <a:spLocks noGrp="1"/>
          </p:cNvSpPr>
          <p:nvPr/>
        </p:nvSpPr>
        <p:spPr>
          <a:xfrm>
            <a:off x="8934450" y="2324100"/>
            <a:ext cx="2266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3150" b="1">
                <a:solidFill>
                  <a:srgbClr val="111820"/>
                </a:solidFill>
              </a:defRPr>
            </a:pPr>
            <a:r>
              <a:rPr sz="3150" b="1">
                <a:solidFill>
                  <a:srgbClr val="111820"/>
                </a:solidFill>
              </a:rPr>
              <a:t>日·周·月·年</a:t>
            </a:r>
            <a:endParaRPr sz="3150" b="1">
              <a:solidFill>
                <a:srgbClr val="111820"/>
              </a:solidFill>
            </a:endParaRPr>
          </a:p>
        </p:txBody>
      </p:sp>
      <p:sp>
        <p:nvSpPr>
          <p:cNvPr id="1048785" name="矩形 35"/>
          <p:cNvSpPr>
            <a:spLocks noGrp="1"/>
          </p:cNvSpPr>
          <p:nvPr/>
        </p:nvSpPr>
        <p:spPr>
          <a:xfrm>
            <a:off x="8934450" y="3105150"/>
            <a:ext cx="22669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从单餐走向长期管理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786" name="矩形 36"/>
          <p:cNvSpPr>
            <a:spLocks noGrp="1"/>
          </p:cNvSpPr>
          <p:nvPr/>
        </p:nvSpPr>
        <p:spPr>
          <a:xfrm>
            <a:off x="8934450" y="4019550"/>
            <a:ext cx="571500" cy="28575"/>
          </a:xfrm>
          <a:prstGeom prst="rect">
            <a:avLst/>
          </a:prstGeom>
          <a:solidFill>
            <a:srgbClr val="2458D6"/>
          </a:solidFill>
          <a:ln w="0">
            <a:noFill/>
            <a:prstDash val="solid"/>
          </a:ln>
        </p:spPr>
      </p:sp>
      <p:sp>
        <p:nvSpPr>
          <p:cNvPr id="1048787" name="矩形 37"/>
          <p:cNvSpPr>
            <a:spLocks noGrp="1"/>
          </p:cNvSpPr>
          <p:nvPr/>
        </p:nvSpPr>
        <p:spPr>
          <a:xfrm>
            <a:off x="8934450" y="4286250"/>
            <a:ext cx="22669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75" b="0">
                <a:solidFill>
                  <a:srgbClr val="66717A"/>
                </a:solidFill>
              </a:defRPr>
            </a:pPr>
            <a:r>
              <a:rPr sz="1275" b="0">
                <a:solidFill>
                  <a:srgbClr val="66717A"/>
                </a:solidFill>
              </a:rPr>
              <a:t>系统按周期生成营养报告，呈现趋势、分布、常吃食物与阶段性建议。</a:t>
            </a:r>
            <a:endParaRPr sz="1275" b="0">
              <a:solidFill>
                <a:srgbClr val="66717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44" name=""/>
        <p:cNvGrpSpPr/>
        <p:nvPr/>
      </p:nvGrpSpPr>
      <p:grpSpPr/>
      <p:sp>
        <p:nvSpPr>
          <p:cNvPr id="1048791" name="矩形 28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09  云端证据 · AI健康助手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792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sz="3000" b="1">
                <a:solidFill>
                  <a:srgbClr val="111820"/>
                </a:solidFill>
              </a:rPr>
              <a:t>RAG读取个人历史，让建议真正因人而异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793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794" name="矩形 25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795" name="矩形 26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796" name="矩形 27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10</a:t>
            </a:r>
            <a:endParaRPr sz="825" b="1">
              <a:solidFill>
                <a:srgbClr val="68727A"/>
              </a:solidFill>
            </a:endParaRPr>
          </a:p>
        </p:txBody>
      </p:sp>
      <p:sp>
        <p:nvSpPr>
          <p:cNvPr id="1048797" name="圆角矩形 29"/>
          <p:cNvSpPr>
            <a:spLocks noGrp="1"/>
          </p:cNvSpPr>
          <p:nvPr/>
        </p:nvSpPr>
        <p:spPr>
          <a:xfrm>
            <a:off x="666750" y="1504950"/>
            <a:ext cx="7677150" cy="438150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8DEDA"/>
            </a:solidFill>
            <a:prstDash val="solid"/>
          </a:ln>
        </p:spPr>
      </p:sp>
      <p:pic>
        <p:nvPicPr>
          <p:cNvPr id="2097158" name="图片 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37" y="1619250"/>
            <a:ext cx="6959575" cy="4152900"/>
          </a:xfrm>
          <a:prstGeom prst="roundRect">
            <a:avLst>
              <a:gd name="adj" fmla="val 1376"/>
            </a:avLst>
          </a:prstGeom>
        </p:spPr>
      </p:pic>
      <p:sp>
        <p:nvSpPr>
          <p:cNvPr id="1048798" name="圆角矩形 31"/>
          <p:cNvSpPr>
            <a:spLocks noGrp="1"/>
          </p:cNvSpPr>
          <p:nvPr/>
        </p:nvSpPr>
        <p:spPr>
          <a:xfrm>
            <a:off x="8629650" y="1581150"/>
            <a:ext cx="2895600" cy="4229100"/>
          </a:xfrm>
          <a:prstGeom prst="roundRect">
            <a:avLst>
              <a:gd name="adj" fmla="val 1974"/>
            </a:avLst>
          </a:prstGeom>
          <a:solidFill>
            <a:srgbClr val="EEEAF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48799" name="圆角矩形 32"/>
          <p:cNvSpPr>
            <a:spLocks noGrp="1"/>
          </p:cNvSpPr>
          <p:nvPr/>
        </p:nvSpPr>
        <p:spPr>
          <a:xfrm>
            <a:off x="8629650" y="1581150"/>
            <a:ext cx="57150" cy="4229100"/>
          </a:xfrm>
          <a:prstGeom prst="roundRect">
            <a:avLst>
              <a:gd name="adj" fmla="val 50000"/>
            </a:avLst>
          </a:prstGeom>
          <a:solidFill>
            <a:srgbClr val="69548A"/>
          </a:solidFill>
          <a:ln w="0">
            <a:noFill/>
            <a:prstDash val="solid"/>
          </a:ln>
        </p:spPr>
      </p:sp>
      <p:sp>
        <p:nvSpPr>
          <p:cNvPr id="1048800" name="矩形 33"/>
          <p:cNvSpPr>
            <a:spLocks noGrp="1"/>
          </p:cNvSpPr>
          <p:nvPr/>
        </p:nvSpPr>
        <p:spPr>
          <a:xfrm>
            <a:off x="8934450" y="1847850"/>
            <a:ext cx="2266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00" b="1">
                <a:solidFill>
                  <a:srgbClr val="69548A"/>
                </a:solidFill>
              </a:defRPr>
            </a:pPr>
            <a:r>
              <a:rPr sz="1200" b="1">
                <a:solidFill>
                  <a:srgbClr val="69548A"/>
                </a:solidFill>
              </a:rPr>
              <a:t>个性化依据</a:t>
            </a:r>
            <a:endParaRPr sz="1200" b="1">
              <a:solidFill>
                <a:srgbClr val="69548A"/>
              </a:solidFill>
            </a:endParaRPr>
          </a:p>
        </p:txBody>
      </p:sp>
      <p:sp>
        <p:nvSpPr>
          <p:cNvPr id="1048801" name="矩形 34"/>
          <p:cNvSpPr>
            <a:spLocks noGrp="1"/>
          </p:cNvSpPr>
          <p:nvPr/>
        </p:nvSpPr>
        <p:spPr>
          <a:xfrm>
            <a:off x="8934450" y="2324100"/>
            <a:ext cx="2266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3150" b="1">
                <a:solidFill>
                  <a:srgbClr val="111820"/>
                </a:solidFill>
              </a:defRPr>
            </a:pPr>
            <a:r>
              <a:rPr sz="3150" b="1">
                <a:solidFill>
                  <a:srgbClr val="111820"/>
                </a:solidFill>
              </a:rPr>
              <a:t>3类数据</a:t>
            </a:r>
            <a:endParaRPr sz="3150" b="1">
              <a:solidFill>
                <a:srgbClr val="111820"/>
              </a:solidFill>
            </a:endParaRPr>
          </a:p>
        </p:txBody>
      </p:sp>
      <p:sp>
        <p:nvSpPr>
          <p:cNvPr id="1048802" name="矩形 35"/>
          <p:cNvSpPr>
            <a:spLocks noGrp="1"/>
          </p:cNvSpPr>
          <p:nvPr/>
        </p:nvSpPr>
        <p:spPr>
          <a:xfrm>
            <a:off x="8934450" y="3105150"/>
            <a:ext cx="22669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725" b="1">
                <a:solidFill>
                  <a:srgbClr val="111820"/>
                </a:solidFill>
              </a:defRPr>
            </a:pPr>
            <a:r>
              <a:rPr sz="1725" b="1">
                <a:solidFill>
                  <a:srgbClr val="111820"/>
                </a:solidFill>
              </a:rPr>
              <a:t>个人档案 + 近期餐食 + 营养知识库</a:t>
            </a:r>
            <a:endParaRPr sz="1725" b="1">
              <a:solidFill>
                <a:srgbClr val="111820"/>
              </a:solidFill>
            </a:endParaRPr>
          </a:p>
        </p:txBody>
      </p:sp>
      <p:sp>
        <p:nvSpPr>
          <p:cNvPr id="1048803" name="矩形 36"/>
          <p:cNvSpPr>
            <a:spLocks noGrp="1"/>
          </p:cNvSpPr>
          <p:nvPr/>
        </p:nvSpPr>
        <p:spPr>
          <a:xfrm>
            <a:off x="8934450" y="4019550"/>
            <a:ext cx="571500" cy="28575"/>
          </a:xfrm>
          <a:prstGeom prst="rect">
            <a:avLst/>
          </a:prstGeom>
          <a:solidFill>
            <a:srgbClr val="69548A"/>
          </a:solidFill>
          <a:ln w="0">
            <a:noFill/>
            <a:prstDash val="solid"/>
          </a:ln>
        </p:spPr>
      </p:sp>
      <p:sp>
        <p:nvSpPr>
          <p:cNvPr id="1048804" name="矩形 37"/>
          <p:cNvSpPr>
            <a:spLocks noGrp="1"/>
          </p:cNvSpPr>
          <p:nvPr/>
        </p:nvSpPr>
        <p:spPr>
          <a:xfrm>
            <a:off x="8934450" y="4286250"/>
            <a:ext cx="22669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75" b="0">
                <a:solidFill>
                  <a:srgbClr val="66717A"/>
                </a:solidFill>
              </a:defRPr>
            </a:pPr>
            <a:r>
              <a:rPr sz="1275" b="0">
                <a:solidFill>
                  <a:srgbClr val="66717A"/>
                </a:solidFill>
              </a:rPr>
              <a:t>快速模式回答日常问题；专家模式结合长期记录给出更完整的解释与规划。</a:t>
            </a:r>
            <a:endParaRPr sz="1275" b="0">
              <a:solidFill>
                <a:srgbClr val="66717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3"/>
        </a:solidFill>
        <a:effectLst/>
      </p:bgPr>
    </p:bg>
    <p:spTree>
      <p:nvGrpSpPr>
        <p:cNvPr id="47" name=""/>
        <p:cNvGrpSpPr/>
        <p:nvPr/>
      </p:nvGrpSpPr>
      <p:grpSpPr/>
      <p:sp>
        <p:nvSpPr>
          <p:cNvPr id="1048808" name="矩形 21"/>
          <p:cNvSpPr>
            <a:spLocks noGrp="1"/>
          </p:cNvSpPr>
          <p:nvPr/>
        </p:nvSpPr>
        <p:spPr>
          <a:xfrm>
            <a:off x="666750" y="3238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050" b="1">
                <a:solidFill>
                  <a:srgbClr val="E44732"/>
                </a:solidFill>
              </a:defRPr>
            </a:pPr>
            <a:r>
              <a:rPr sz="1050" b="1">
                <a:solidFill>
                  <a:srgbClr val="E44732"/>
                </a:solidFill>
              </a:rPr>
              <a:t>10  云端证据 · 移动补录</a:t>
            </a:r>
            <a:endParaRPr sz="1050" b="1">
              <a:solidFill>
                <a:srgbClr val="E44732"/>
              </a:solidFill>
            </a:endParaRPr>
          </a:p>
        </p:txBody>
      </p:sp>
      <p:sp>
        <p:nvSpPr>
          <p:cNvPr id="1048809" name="矩形 1"/>
          <p:cNvSpPr>
            <a:spLocks noGrp="1"/>
          </p:cNvSpPr>
          <p:nvPr/>
        </p:nvSpPr>
        <p:spPr>
          <a:xfrm>
            <a:off x="666750" y="5810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000" b="1">
                <a:solidFill>
                  <a:srgbClr val="111820"/>
                </a:solidFill>
              </a:defRPr>
            </a:pPr>
            <a:r>
              <a:rPr lang="zh-CN" sz="3000" b="1">
                <a:solidFill>
                  <a:srgbClr val="111820"/>
                </a:solidFill>
                <a:ea typeface="宋体" panose="02010600030101010101" pitchFamily="2" charset="-122"/>
              </a:rPr>
              <a:t>除智能秤</a:t>
            </a:r>
            <a:r>
              <a:rPr sz="3000" b="1">
                <a:solidFill>
                  <a:srgbClr val="111820"/>
                </a:solidFill>
              </a:rPr>
              <a:t>自动记录之外，</a:t>
            </a:r>
            <a:r>
              <a:rPr lang="zh-CN" sz="3000" b="1">
                <a:solidFill>
                  <a:srgbClr val="111820"/>
                </a:solidFill>
                <a:ea typeface="宋体" panose="02010600030101010101" pitchFamily="2" charset="-122"/>
              </a:rPr>
              <a:t>软件</a:t>
            </a:r>
            <a:r>
              <a:rPr sz="3000" b="1">
                <a:solidFill>
                  <a:srgbClr val="111820"/>
                </a:solidFill>
              </a:rPr>
              <a:t>端仍覆盖外食与成品菜场景</a:t>
            </a:r>
            <a:endParaRPr sz="3000" b="1">
              <a:solidFill>
                <a:srgbClr val="111820"/>
              </a:solidFill>
            </a:endParaRPr>
          </a:p>
        </p:txBody>
      </p:sp>
      <p:sp>
        <p:nvSpPr>
          <p:cNvPr id="1048810" name="矩形 2"/>
          <p:cNvSpPr>
            <a:spLocks noGrp="1"/>
          </p:cNvSpPr>
          <p:nvPr/>
        </p:nvSpPr>
        <p:spPr>
          <a:xfrm>
            <a:off x="666750" y="1238250"/>
            <a:ext cx="666750" cy="381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811" name="矩形 18"/>
          <p:cNvSpPr>
            <a:spLocks noGrp="1"/>
          </p:cNvSpPr>
          <p:nvPr/>
        </p:nvSpPr>
        <p:spPr>
          <a:xfrm>
            <a:off x="666750" y="6477000"/>
            <a:ext cx="10858500" cy="9525"/>
          </a:xfrm>
          <a:prstGeom prst="rect">
            <a:avLst/>
          </a:prstGeom>
          <a:solidFill>
            <a:srgbClr val="D7DDDA"/>
          </a:solidFill>
          <a:ln w="0">
            <a:noFill/>
            <a:prstDash val="solid"/>
          </a:ln>
        </p:spPr>
      </p:sp>
      <p:sp>
        <p:nvSpPr>
          <p:cNvPr id="1048812" name="矩形 19"/>
          <p:cNvSpPr>
            <a:spLocks noGrp="1"/>
          </p:cNvSpPr>
          <p:nvPr/>
        </p:nvSpPr>
        <p:spPr>
          <a:xfrm>
            <a:off x="666750" y="65532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825" b="0">
                <a:solidFill>
                  <a:srgbClr val="68727A"/>
                </a:solidFill>
              </a:defRPr>
            </a:pPr>
            <a:r>
              <a:rPr sz="825" b="0">
                <a:solidFill>
                  <a:srgbClr val="68727A"/>
                </a:solidFill>
              </a:rPr>
              <a:t>全国大学生物联网设计竞赛 · 膳衡智枢</a:t>
            </a:r>
            <a:endParaRPr sz="825" b="0">
              <a:solidFill>
                <a:srgbClr val="68727A"/>
              </a:solidFill>
            </a:endParaRPr>
          </a:p>
        </p:txBody>
      </p:sp>
      <p:sp>
        <p:nvSpPr>
          <p:cNvPr id="1048813" name="矩形 20"/>
          <p:cNvSpPr>
            <a:spLocks noGrp="1"/>
          </p:cNvSpPr>
          <p:nvPr/>
        </p:nvSpPr>
        <p:spPr>
          <a:xfrm>
            <a:off x="11049000" y="655320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r">
              <a:buNone/>
              <a:defRPr sz="825" b="1">
                <a:solidFill>
                  <a:srgbClr val="68727A"/>
                </a:solidFill>
              </a:defRPr>
            </a:pPr>
            <a:r>
              <a:rPr sz="825" b="1">
                <a:solidFill>
                  <a:srgbClr val="68727A"/>
                </a:solidFill>
              </a:rPr>
              <a:t>11</a:t>
            </a:r>
            <a:endParaRPr sz="825" b="1">
              <a:solidFill>
                <a:srgbClr val="68727A"/>
              </a:solidFill>
            </a:endParaRPr>
          </a:p>
        </p:txBody>
      </p:sp>
      <p:sp>
        <p:nvSpPr>
          <p:cNvPr id="1048814" name="圆角矩形 22"/>
          <p:cNvSpPr>
            <a:spLocks noGrp="1"/>
          </p:cNvSpPr>
          <p:nvPr/>
        </p:nvSpPr>
        <p:spPr>
          <a:xfrm>
            <a:off x="666750" y="1524000"/>
            <a:ext cx="7010400" cy="4362450"/>
          </a:xfrm>
          <a:prstGeom prst="roundRect">
            <a:avLst>
              <a:gd name="adj" fmla="val 1310"/>
            </a:avLst>
          </a:prstGeom>
          <a:solidFill>
            <a:srgbClr val="FFFFFF"/>
          </a:solidFill>
          <a:ln w="9525">
            <a:solidFill>
              <a:srgbClr val="D8DEDA"/>
            </a:solidFill>
            <a:prstDash val="solid"/>
          </a:ln>
        </p:spPr>
      </p:sp>
      <p:pic>
        <p:nvPicPr>
          <p:cNvPr id="2097159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534" y="1676400"/>
            <a:ext cx="1868782" cy="4057650"/>
          </a:xfrm>
          <a:prstGeom prst="roundRect">
            <a:avLst>
              <a:gd name="adj" fmla="val 1818"/>
            </a:avLst>
          </a:prstGeom>
        </p:spPr>
      </p:pic>
      <p:pic>
        <p:nvPicPr>
          <p:cNvPr id="2097160" name="图片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584" y="1676400"/>
            <a:ext cx="1868782" cy="4057650"/>
          </a:xfrm>
          <a:prstGeom prst="roundRect">
            <a:avLst>
              <a:gd name="adj" fmla="val 1818"/>
            </a:avLst>
          </a:prstGeom>
        </p:spPr>
      </p:pic>
      <p:sp>
        <p:nvSpPr>
          <p:cNvPr id="1048815" name="矩形 25"/>
          <p:cNvSpPr>
            <a:spLocks noGrp="1"/>
          </p:cNvSpPr>
          <p:nvPr/>
        </p:nvSpPr>
        <p:spPr>
          <a:xfrm>
            <a:off x="8058150" y="171450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725" b="1">
                <a:solidFill>
                  <a:srgbClr val="E44732"/>
                </a:solidFill>
              </a:defRPr>
            </a:pPr>
            <a:r>
              <a:rPr sz="1725" b="1">
                <a:solidFill>
                  <a:srgbClr val="E44732"/>
                </a:solidFill>
              </a:rPr>
              <a:t>01</a:t>
            </a:r>
            <a:endParaRPr sz="1725" b="1">
              <a:solidFill>
                <a:srgbClr val="E44732"/>
              </a:solidFill>
            </a:endParaRPr>
          </a:p>
        </p:txBody>
      </p:sp>
      <p:sp>
        <p:nvSpPr>
          <p:cNvPr id="1048816" name="矩形 26"/>
          <p:cNvSpPr>
            <a:spLocks noGrp="1"/>
          </p:cNvSpPr>
          <p:nvPr/>
        </p:nvSpPr>
        <p:spPr>
          <a:xfrm>
            <a:off x="8686800" y="17145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650" b="1">
                <a:solidFill>
                  <a:srgbClr val="111820"/>
                </a:solidFill>
              </a:defRPr>
            </a:pPr>
            <a:r>
              <a:rPr sz="1650" b="1">
                <a:solidFill>
                  <a:srgbClr val="111820"/>
                </a:solidFill>
              </a:rPr>
              <a:t>选择记录方式</a:t>
            </a:r>
            <a:endParaRPr sz="1650" b="1">
              <a:solidFill>
                <a:srgbClr val="111820"/>
              </a:solidFill>
            </a:endParaRPr>
          </a:p>
        </p:txBody>
      </p:sp>
      <p:sp>
        <p:nvSpPr>
          <p:cNvPr id="1048817" name="矩形 27"/>
          <p:cNvSpPr>
            <a:spLocks noGrp="1"/>
          </p:cNvSpPr>
          <p:nvPr/>
        </p:nvSpPr>
        <p:spPr>
          <a:xfrm>
            <a:off x="8058150" y="2152650"/>
            <a:ext cx="30289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75" b="0">
                <a:solidFill>
                  <a:srgbClr val="66717A"/>
                </a:solidFill>
              </a:defRPr>
            </a:pPr>
            <a:r>
              <a:rPr sz="1275" b="0">
                <a:solidFill>
                  <a:srgbClr val="66717A"/>
                </a:solidFill>
              </a:rPr>
              <a:t>食材识别与菜品识别并列，覆盖设备之外的主动记录需求。</a:t>
            </a:r>
            <a:endParaRPr sz="1275" b="0">
              <a:solidFill>
                <a:srgbClr val="66717A"/>
              </a:solidFill>
            </a:endParaRPr>
          </a:p>
        </p:txBody>
      </p:sp>
      <p:sp>
        <p:nvSpPr>
          <p:cNvPr id="1048818" name="矩形 28"/>
          <p:cNvSpPr>
            <a:spLocks noGrp="1"/>
          </p:cNvSpPr>
          <p:nvPr/>
        </p:nvSpPr>
        <p:spPr>
          <a:xfrm>
            <a:off x="8058150" y="3238500"/>
            <a:ext cx="3028950" cy="9525"/>
          </a:xfrm>
          <a:prstGeom prst="rect">
            <a:avLst/>
          </a:prstGeom>
          <a:solidFill>
            <a:srgbClr val="D8DEDA"/>
          </a:solidFill>
          <a:ln w="0">
            <a:noFill/>
            <a:prstDash val="solid"/>
          </a:ln>
        </p:spPr>
      </p:sp>
      <p:sp>
        <p:nvSpPr>
          <p:cNvPr id="1048819" name="矩形 29"/>
          <p:cNvSpPr>
            <a:spLocks noGrp="1"/>
          </p:cNvSpPr>
          <p:nvPr/>
        </p:nvSpPr>
        <p:spPr>
          <a:xfrm>
            <a:off x="8058150" y="3562350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725" b="1">
                <a:solidFill>
                  <a:srgbClr val="16865A"/>
                </a:solidFill>
              </a:defRPr>
            </a:pPr>
            <a:r>
              <a:rPr sz="1725" b="1">
                <a:solidFill>
                  <a:srgbClr val="16865A"/>
                </a:solidFill>
              </a:rPr>
              <a:t>02</a:t>
            </a:r>
            <a:endParaRPr sz="1725" b="1">
              <a:solidFill>
                <a:srgbClr val="16865A"/>
              </a:solidFill>
            </a:endParaRPr>
          </a:p>
        </p:txBody>
      </p:sp>
      <p:sp>
        <p:nvSpPr>
          <p:cNvPr id="1048820" name="矩形 30"/>
          <p:cNvSpPr>
            <a:spLocks noGrp="1"/>
          </p:cNvSpPr>
          <p:nvPr/>
        </p:nvSpPr>
        <p:spPr>
          <a:xfrm>
            <a:off x="8686800" y="35623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650" b="1">
                <a:solidFill>
                  <a:srgbClr val="111820"/>
                </a:solidFill>
              </a:defRPr>
            </a:pPr>
            <a:r>
              <a:rPr sz="1650" b="1">
                <a:solidFill>
                  <a:srgbClr val="111820"/>
                </a:solidFill>
              </a:rPr>
              <a:t>返回完整结果</a:t>
            </a:r>
            <a:endParaRPr sz="1650" b="1">
              <a:solidFill>
                <a:srgbClr val="111820"/>
              </a:solidFill>
            </a:endParaRPr>
          </a:p>
        </p:txBody>
      </p:sp>
      <p:sp>
        <p:nvSpPr>
          <p:cNvPr id="1048821" name="矩形 31"/>
          <p:cNvSpPr>
            <a:spLocks noGrp="1"/>
          </p:cNvSpPr>
          <p:nvPr/>
        </p:nvSpPr>
        <p:spPr>
          <a:xfrm>
            <a:off x="8058150" y="4000500"/>
            <a:ext cx="30289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defRPr sz="1275" b="0">
                <a:solidFill>
                  <a:srgbClr val="66717A"/>
                </a:solidFill>
              </a:defRPr>
            </a:pPr>
            <a:r>
              <a:rPr sz="1275" b="0">
                <a:solidFill>
                  <a:srgbClr val="66717A"/>
                </a:solidFill>
              </a:rPr>
              <a:t>识别菜品名称、估算重量并给出完整营养，最终进入同一份长期档案。</a:t>
            </a:r>
            <a:endParaRPr sz="1275" b="0">
              <a:solidFill>
                <a:srgbClr val="66717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1E"/>
        </a:solidFill>
        <a:effectLst/>
      </p:bgPr>
    </p:bg>
    <p:spTree>
      <p:nvGrpSpPr>
        <p:cNvPr id="50" name=""/>
        <p:cNvGrpSpPr/>
        <p:nvPr/>
      </p:nvGrpSpPr>
      <p:grpSpPr/>
      <p:pic>
        <p:nvPicPr>
          <p:cNvPr id="2097161" name="图片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8825" name="矩形 1"/>
          <p:cNvSpPr>
            <a:spLocks noGrp="1"/>
          </p:cNvSpPr>
          <p:nvPr/>
        </p:nvSpPr>
        <p:spPr>
          <a:xfrm>
            <a:off x="0" y="-27305"/>
            <a:ext cx="12192000" cy="6858000"/>
          </a:xfrm>
          <a:prstGeom prst="rect">
            <a:avLst/>
          </a:prstGeom>
          <a:solidFill>
            <a:srgbClr val="000000">
              <a:alpha val="67000"/>
            </a:srgbClr>
          </a:solidFill>
          <a:ln w="0">
            <a:noFill/>
            <a:prstDash val="solid"/>
          </a:ln>
        </p:spPr>
      </p:sp>
      <p:sp>
        <p:nvSpPr>
          <p:cNvPr id="1048826" name="矩形 2"/>
          <p:cNvSpPr>
            <a:spLocks noGrp="1"/>
          </p:cNvSpPr>
          <p:nvPr/>
        </p:nvSpPr>
        <p:spPr>
          <a:xfrm>
            <a:off x="723900" y="742950"/>
            <a:ext cx="4953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膳衡智枢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1048827" name="矩形 3"/>
          <p:cNvSpPr>
            <a:spLocks noGrp="1"/>
          </p:cNvSpPr>
          <p:nvPr/>
        </p:nvSpPr>
        <p:spPr>
          <a:xfrm>
            <a:off x="723900" y="1504950"/>
            <a:ext cx="609600" cy="47625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828" name="矩形 4"/>
          <p:cNvSpPr>
            <a:spLocks noGrp="1"/>
          </p:cNvSpPr>
          <p:nvPr/>
        </p:nvSpPr>
        <p:spPr>
          <a:xfrm>
            <a:off x="723900" y="1962150"/>
            <a:ext cx="7239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用物联网让健康管理无感化，</a:t>
            </a:r>
            <a:endParaRPr sz="3300" b="1">
              <a:solidFill>
                <a:srgbClr val="FFFFFF"/>
              </a:solidFill>
            </a:endParaRPr>
          </a:p>
          <a:p>
            <a:pPr algn="l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让坚持不再成为负担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1048829" name="矩形 5"/>
          <p:cNvSpPr>
            <a:spLocks noGrp="1"/>
          </p:cNvSpPr>
          <p:nvPr/>
        </p:nvSpPr>
        <p:spPr>
          <a:xfrm>
            <a:off x="723900" y="4343400"/>
            <a:ext cx="47625" cy="876300"/>
          </a:xfrm>
          <a:prstGeom prst="rect">
            <a:avLst/>
          </a:prstGeom>
          <a:solidFill>
            <a:srgbClr val="E44732"/>
          </a:solidFill>
          <a:ln w="0">
            <a:noFill/>
            <a:prstDash val="solid"/>
          </a:ln>
        </p:spPr>
      </p:sp>
      <p:sp>
        <p:nvSpPr>
          <p:cNvPr id="1048830" name="矩形 6"/>
          <p:cNvSpPr>
            <a:spLocks noGrp="1"/>
          </p:cNvSpPr>
          <p:nvPr/>
        </p:nvSpPr>
        <p:spPr>
          <a:xfrm>
            <a:off x="933450" y="43243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物联感知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048831" name="矩形 7"/>
          <p:cNvSpPr>
            <a:spLocks noGrp="1"/>
          </p:cNvSpPr>
          <p:nvPr/>
        </p:nvSpPr>
        <p:spPr>
          <a:xfrm>
            <a:off x="933450" y="48006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75" b="0">
                <a:solidFill>
                  <a:srgbClr val="D2DAD5"/>
                </a:solidFill>
              </a:defRPr>
            </a:pPr>
            <a:r>
              <a:rPr sz="1275" b="0">
                <a:solidFill>
                  <a:srgbClr val="D2DAD5"/>
                </a:solidFill>
              </a:rPr>
              <a:t>放 · 称 · 选 · 得</a:t>
            </a:r>
            <a:endParaRPr sz="1275" b="0">
              <a:solidFill>
                <a:srgbClr val="D2DAD5"/>
              </a:solidFill>
            </a:endParaRPr>
          </a:p>
        </p:txBody>
      </p:sp>
      <p:sp>
        <p:nvSpPr>
          <p:cNvPr id="1048832" name="矩形 8"/>
          <p:cNvSpPr>
            <a:spLocks noGrp="1"/>
          </p:cNvSpPr>
          <p:nvPr/>
        </p:nvSpPr>
        <p:spPr>
          <a:xfrm>
            <a:off x="4057650" y="4343400"/>
            <a:ext cx="47625" cy="876300"/>
          </a:xfrm>
          <a:prstGeom prst="rect">
            <a:avLst/>
          </a:prstGeom>
          <a:solidFill>
            <a:srgbClr val="D69D16"/>
          </a:solidFill>
          <a:ln w="0">
            <a:noFill/>
            <a:prstDash val="solid"/>
          </a:ln>
        </p:spPr>
      </p:sp>
      <p:sp>
        <p:nvSpPr>
          <p:cNvPr id="1048833" name="矩形 9"/>
          <p:cNvSpPr>
            <a:spLocks noGrp="1"/>
          </p:cNvSpPr>
          <p:nvPr/>
        </p:nvSpPr>
        <p:spPr>
          <a:xfrm>
            <a:off x="4267200" y="43243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端云协同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048834" name="矩形 10"/>
          <p:cNvSpPr>
            <a:spLocks noGrp="1"/>
          </p:cNvSpPr>
          <p:nvPr/>
        </p:nvSpPr>
        <p:spPr>
          <a:xfrm>
            <a:off x="4267200" y="48006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75" b="0">
                <a:solidFill>
                  <a:srgbClr val="D2DAD5"/>
                </a:solidFill>
              </a:defRPr>
            </a:pPr>
            <a:r>
              <a:rPr sz="1275" b="0">
                <a:solidFill>
                  <a:srgbClr val="D2DAD5"/>
                </a:solidFill>
              </a:rPr>
              <a:t>边缘即时 · 云端全面</a:t>
            </a:r>
            <a:endParaRPr sz="1275" b="0">
              <a:solidFill>
                <a:srgbClr val="D2DAD5"/>
              </a:solidFill>
            </a:endParaRPr>
          </a:p>
        </p:txBody>
      </p:sp>
      <p:sp>
        <p:nvSpPr>
          <p:cNvPr id="1048835" name="矩形 11"/>
          <p:cNvSpPr>
            <a:spLocks noGrp="1"/>
          </p:cNvSpPr>
          <p:nvPr/>
        </p:nvSpPr>
        <p:spPr>
          <a:xfrm>
            <a:off x="7391400" y="4343400"/>
            <a:ext cx="47625" cy="876300"/>
          </a:xfrm>
          <a:prstGeom prst="rect">
            <a:avLst/>
          </a:prstGeom>
          <a:solidFill>
            <a:srgbClr val="16865A"/>
          </a:solidFill>
          <a:ln w="0">
            <a:noFill/>
            <a:prstDash val="solid"/>
          </a:ln>
        </p:spPr>
      </p:sp>
      <p:sp>
        <p:nvSpPr>
          <p:cNvPr id="1048836" name="矩形 12"/>
          <p:cNvSpPr>
            <a:spLocks noGrp="1"/>
          </p:cNvSpPr>
          <p:nvPr/>
        </p:nvSpPr>
        <p:spPr>
          <a:xfrm>
            <a:off x="7600950" y="43243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AI赋能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048837" name="矩形 13"/>
          <p:cNvSpPr>
            <a:spLocks noGrp="1"/>
          </p:cNvSpPr>
          <p:nvPr/>
        </p:nvSpPr>
        <p:spPr>
          <a:xfrm>
            <a:off x="7600950" y="48006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buNone/>
              <a:defRPr sz="1275" b="0">
                <a:solidFill>
                  <a:srgbClr val="D2DAD5"/>
                </a:solidFill>
              </a:defRPr>
            </a:pPr>
            <a:r>
              <a:rPr sz="1275" b="0">
                <a:solidFill>
                  <a:srgbClr val="D2DAD5"/>
                </a:solidFill>
              </a:rPr>
              <a:t>数据沉淀 · 形成洞察</a:t>
            </a:r>
            <a:endParaRPr sz="1275" b="0">
              <a:solidFill>
                <a:srgbClr val="D2DAD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1356</Words>
  <Application>WPS 演示</Application>
  <PresentationFormat/>
  <Paragraphs>266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TK</cp:lastModifiedBy>
  <cp:revision>1</cp:revision>
  <dcterms:created xsi:type="dcterms:W3CDTF">2026-08-15T04:27:28Z</dcterms:created>
  <dcterms:modified xsi:type="dcterms:W3CDTF">2026-08-15T04:27:28Z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db8c54a004404b879f855076f9378741_23</vt:lpwstr>
  </property>
</Properties>
</file>