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/>
      <p:sp>
        <p:nvSpPr>
          <p:cNvPr id="1048841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2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3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4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5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6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/>
      <p:sp>
        <p:nvSpPr>
          <p:cNvPr id="1048584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5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各位评委老师好，我们是衡知未来团队。我们的作品是膳衡智枢，一台基于物联网的智能饮食健康秤。它最核心的理念是：信息随烹饪动作自然生成，让每一餐都能够自然沉淀为健康数据。</a:t>
            </a:r>
          </a:p>
          <a:p/>
          <a:p>
            <a:r>
              <a:t>[Sources]</a:t>
            </a:r>
          </a:p>
          <a:p>
            <a:r>
              <a:t>- 实机画面：D:/文档/物赛/食材_番茄炒蛋.mp4</a:t>
            </a:r>
          </a:p>
          <a:p>
            <a:r>
              <a:t>- 团队与作品信息：竞赛设计文档</a:t>
            </a:r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611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我们的目标用户是希望减脂、增肌、控糖，或者需要长期管理饮食的人。现在的问题并不是用户不知道记录有价值，而是每次都要搜索食材、估算克数、逐项录入。用户必须先把一餐翻译成数据，操作门槛高，也很难长期坚持。</a:t>
            </a:r>
          </a:p>
          <a:p/>
          <a:p>
            <a:r>
              <a:t>[Sources]</a:t>
            </a:r>
          </a:p>
          <a:p>
            <a:r>
              <a:t>- 用户痛点：竞赛设计文档第1章</a:t>
            </a:r>
          </a:p>
          <a:p>
            <a:r>
              <a:t>- 目标场景：项目作品创意表</a:t>
            </a: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/>
      <p:sp>
        <p:nvSpPr>
          <p:cNvPr id="1048660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我们的方案把用户动作压缩为四步：放、称、选、得。食材放上秤后，摄像头识别种类，HX711给出真实重量，用户只需在触控屏补充烹饪方式，端侧模型立即输出完整营养结果。也就是说，我们减少的是录入，不是信息维度。</a:t>
            </a:r>
          </a:p>
          <a:p/>
          <a:p>
            <a:r>
              <a:t>[Sources]</a:t>
            </a:r>
          </a:p>
          <a:p>
            <a:r>
              <a:t>- 实机画面：D:/文档/物赛/食材_番茄炒蛋.mp4</a:t>
            </a:r>
          </a:p>
          <a:p>
            <a:r>
              <a:t>- 业务流程：最终工程README</a:t>
            </a:r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sp>
        <p:nvSpPr>
          <p:cNvPr id="1048633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物联网中的‘物’，是这台智能秤感知终端。ESP32-P4提供端侧算力，摄像头完成食材识别，HX711和压力传感器给出实际重量，触控屏负责交互与结果显示。它不是一台只会称重的秤，而是一台会看、会称、会算的边缘终端。</a:t>
            </a:r>
          </a:p>
          <a:p/>
          <a:p>
            <a:r>
              <a:t>[Sources]</a:t>
            </a:r>
          </a:p>
          <a:p>
            <a:r>
              <a:t>- 硬件规格：最终工程README</a:t>
            </a:r>
          </a:p>
          <a:p>
            <a:r>
              <a:t>- 整机照片：D:/文档/物赛/外部拆解.png、内部拆解.png</a:t>
            </a:r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/>
      <p:sp>
        <p:nvSpPr>
          <p:cNvPr id="1048727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完整事务从秤面开始：设备感知食材和重量，端侧即时计算营养；记录随后上报云端，按日、周、月和年聚合；RAG检索用户历史与营养知识，再由大模型生成个性化建议，最终回到Web和App。这样，一餐从被看见到被持续理解，形成完整闭环。</a:t>
            </a:r>
          </a:p>
          <a:p/>
          <a:p>
            <a:r>
              <a:t>[Sources]</a:t>
            </a:r>
          </a:p>
          <a:p>
            <a:r>
              <a:t>- 数据流：竞赛设计文档第3章与第4章</a:t>
            </a:r>
          </a:p>
          <a:p>
            <a:r>
              <a:t>- 云端功能：D:/文档/物赛/云端功能演示.mp4</a:t>
            </a:r>
          </a:p>
        </p:txBody>
      </p:sp>
      <p:sp>
        <p:nvSpPr>
          <p:cNvPr id="1048729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/>
      <p:sp>
        <p:nvSpPr>
          <p:cNvPr id="1048754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我们的创新不是简单堆叠模型。实时性要求高的YOLO和LightGBM营养评估模型下沉到端侧，LightGBM营养模型单次推理约42毫秒；NutriCook只是该营养推理模块在工程中的组件名。长期档案、RAG和大模型留在云端。针对文本模型启动慢的问题，我们又把模型离线转换为二进制树表，加载由约7.8秒降到6.36毫秒，而且树结构和计算路径不变，不额外损失精度。</a:t>
            </a:r>
          </a:p>
          <a:p/>
          <a:p>
            <a:r>
              <a:t>[Sources]</a:t>
            </a:r>
          </a:p>
          <a:p>
            <a:r>
              <a:t>- 板端实测日志：LightGBM营养模型推理约42ms</a:t>
            </a:r>
          </a:p>
          <a:p>
            <a:r>
              <a:t>- 模型加载实测：7805.18ms降至6.36ms</a:t>
            </a:r>
          </a:p>
          <a:p>
            <a:r>
              <a:t>- 优化实现：最终工程营养推理组件</a:t>
            </a:r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771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设备上传的每一餐不会停留在一次性结果。近期数据看板会自动汇总热量、蛋白质、脂肪、碳水以及常吃食物，让用户快速看见自己的饮食结构。</a:t>
            </a:r>
          </a:p>
          <a:p/>
          <a:p>
            <a:r>
              <a:t>[Sources]</a:t>
            </a:r>
          </a:p>
          <a:p>
            <a:r>
              <a:t>- D:/文档/物赛/云端1;近期营养数据.png</a:t>
            </a:r>
          </a:p>
        </p:txBody>
      </p:sp>
      <p:sp>
        <p:nvSpPr>
          <p:cNvPr id="1048773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/>
      <p:sp>
        <p:nvSpPr>
          <p:cNvPr id="1048788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当数据持续积累后，系统会按日、周、月、年自动生成营养报告。用户不需要再次整理，便能看到趋势、结构和阶段性变化。</a:t>
            </a:r>
          </a:p>
          <a:p/>
          <a:p>
            <a:r>
              <a:t>[Sources]</a:t>
            </a:r>
          </a:p>
          <a:p>
            <a:r>
              <a:t>- D:/文档/物赛/云端2：营养分析报告.png</a:t>
            </a:r>
          </a:p>
        </p:txBody>
      </p:sp>
      <p:sp>
        <p:nvSpPr>
          <p:cNvPr id="104879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/>
      <p:sp>
        <p:nvSpPr>
          <p:cNvPr id="1048805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云端AI健康助手并不是通用聊天窗口。RAG服务会结合个人健康档案、近期餐食记录和营养知识库检索相关内容，再生成更有依据的个性化回答。</a:t>
            </a:r>
          </a:p>
          <a:p/>
          <a:p>
            <a:r>
              <a:t>[Sources]</a:t>
            </a:r>
          </a:p>
          <a:p>
            <a:r>
              <a:t>- D:/文档/物赛/云端3;AI健康助手.png</a:t>
            </a:r>
          </a:p>
        </p:txBody>
      </p:sp>
      <p:sp>
        <p:nvSpPr>
          <p:cNvPr id="1048807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/>
      <p:sp>
        <p:nvSpPr>
          <p:cNvPr id="104882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智能秤负责日常无感记录，手机端则补齐外食、成品菜等边界场景。用户可以选择识别方式，上传菜品照片后得到名称、重量估算和完整营养结果，并汇入同一份健康档案。</a:t>
            </a:r>
          </a:p>
          <a:p/>
          <a:p>
            <a:r>
              <a:t>[Sources]</a:t>
            </a:r>
          </a:p>
          <a:p>
            <a:r>
              <a:t>- D:/文档/物赛/云端4;添加餐食记录.jpg</a:t>
            </a:r>
          </a:p>
          <a:p>
            <a:r>
              <a:t>- D:/文档/物赛/云端4;添加餐食记录2.jpg</a:t>
            </a:r>
          </a:p>
        </p:txBody>
      </p:sp>
      <p:sp>
        <p:nvSpPr>
          <p:cNvPr id="10488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/>
      <p:sp>
        <p:nvSpPr>
          <p:cNvPr id="1048838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最后，膳衡智枢希望用物联网让健康管理无感化，让坚持不再成为负担。我们通过物联感知自然获得数据，通过端云协同分配实时与长期任务，再用AI把数据转化为真正可用的健康洞察。谢谢各位评委老师。</a:t>
            </a:r>
          </a:p>
          <a:p/>
          <a:p>
            <a:r>
              <a:t>[Sources]</a:t>
            </a:r>
          </a:p>
          <a:p>
            <a:r>
              <a:t>- 总结：项目竞赛设计文档与作品创意表</a:t>
            </a:r>
          </a:p>
        </p:txBody>
      </p:sp>
      <p:sp>
        <p:nvSpPr>
          <p:cNvPr id="10488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4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E"/>
        </a:solidFill>
        <a:effectLst/>
      </p:bgPr>
    </p:bg>
    <p:spTree>
      <p:nvGrpSpPr>
        <p:cNvPr id="15" name=""/>
        <p:cNvGrpSpPr/>
        <p:nvPr/>
      </p:nvGrpSpPr>
      <p:grpSpPr/>
      <p:pic>
        <p:nvPicPr>
          <p:cNvPr id="2097152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576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048577" name="矩形 2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048578" name="矩形 3"/>
          <p:cNvSpPr>
            <a:spLocks noGrp="1"/>
          </p:cNvSpPr>
          <p:nvPr/>
        </p:nvSpPr>
        <p:spPr>
          <a:xfrm>
            <a:off x="723900" y="6286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E7ECE9"/>
                </a:solidFill>
              </a:defRPr>
            </a:pPr>
            <a:r>
              <a:rPr sz="1200" b="1">
                <a:solidFill>
                  <a:srgbClr val="E7ECE9"/>
                </a:solidFill>
              </a:rPr>
              <a:t>全国大学生物联网设计竞赛</a:t>
            </a:r>
            <a:endParaRPr sz="1200" b="1">
              <a:solidFill>
                <a:srgbClr val="E7ECE9"/>
              </a:solidFill>
            </a:endParaRPr>
          </a:p>
        </p:txBody>
      </p:sp>
      <p:sp>
        <p:nvSpPr>
          <p:cNvPr id="1048579" name="矩形 4"/>
          <p:cNvSpPr>
            <a:spLocks noGrp="1"/>
          </p:cNvSpPr>
          <p:nvPr/>
        </p:nvSpPr>
        <p:spPr>
          <a:xfrm>
            <a:off x="723900" y="1123950"/>
            <a:ext cx="609600" cy="47625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80" name="矩形 5"/>
          <p:cNvSpPr>
            <a:spLocks noGrp="1"/>
          </p:cNvSpPr>
          <p:nvPr/>
        </p:nvSpPr>
        <p:spPr>
          <a:xfrm>
            <a:off x="723900" y="1581150"/>
            <a:ext cx="5715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膳衡智枢</a:t>
            </a:r>
            <a:endParaRPr sz="5100" b="1">
              <a:solidFill>
                <a:srgbClr val="FFFFFF"/>
              </a:solidFill>
            </a:endParaRPr>
          </a:p>
        </p:txBody>
      </p:sp>
      <p:sp>
        <p:nvSpPr>
          <p:cNvPr id="1048581" name="矩形 6"/>
          <p:cNvSpPr>
            <a:spLocks noGrp="1"/>
          </p:cNvSpPr>
          <p:nvPr/>
        </p:nvSpPr>
        <p:spPr>
          <a:xfrm>
            <a:off x="762000" y="26289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基于物联网的智能饮食健康秤</a:t>
            </a:r>
            <a:endParaRPr sz="2250" b="0">
              <a:solidFill>
                <a:srgbClr val="FFFFFF"/>
              </a:solidFill>
            </a:endParaRPr>
          </a:p>
        </p:txBody>
      </p:sp>
      <p:sp>
        <p:nvSpPr>
          <p:cNvPr id="1048582" name="矩形 7"/>
          <p:cNvSpPr>
            <a:spLocks noGrp="1"/>
          </p:cNvSpPr>
          <p:nvPr/>
        </p:nvSpPr>
        <p:spPr>
          <a:xfrm>
            <a:off x="762000" y="3486150"/>
            <a:ext cx="581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0">
                <a:solidFill>
                  <a:srgbClr val="D8DFDB"/>
                </a:solidFill>
              </a:defRPr>
            </a:pPr>
            <a:r>
              <a:rPr sz="1800" b="0">
                <a:solidFill>
                  <a:srgbClr val="D8DFDB"/>
                </a:solidFill>
              </a:rPr>
              <a:t>信息随烹饪动作自然生成，让每一餐都成为健康数据</a:t>
            </a:r>
            <a:endParaRPr sz="1800" b="0">
              <a:solidFill>
                <a:srgbClr val="D8DFDB"/>
              </a:solidFill>
            </a:endParaRPr>
          </a:p>
        </p:txBody>
      </p:sp>
      <p:sp>
        <p:nvSpPr>
          <p:cNvPr id="1048583" name="矩形 9"/>
          <p:cNvSpPr>
            <a:spLocks noGrp="1"/>
          </p:cNvSpPr>
          <p:nvPr/>
        </p:nvSpPr>
        <p:spPr>
          <a:xfrm>
            <a:off x="762000" y="6038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125" b="0">
                <a:solidFill>
                  <a:srgbClr val="CED6D1"/>
                </a:solidFill>
              </a:defRPr>
            </a:pPr>
            <a:r>
              <a:rPr sz="1125" b="0">
                <a:solidFill>
                  <a:srgbClr val="CED6D1"/>
                </a:solidFill>
              </a:rPr>
              <a:t>物联网 × 边缘AI × 健康管理</a:t>
            </a:r>
            <a:endParaRPr sz="1125" b="0">
              <a:solidFill>
                <a:srgbClr val="CED6D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0" name=""/>
        <p:cNvGrpSpPr/>
        <p:nvPr/>
      </p:nvGrpSpPr>
      <p:grpSpPr/>
      <p:sp>
        <p:nvSpPr>
          <p:cNvPr id="1048587" name="矩形 24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01  刚需问题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588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谁需要它？想管理饮食，却难以坚持记录的人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589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90" name="矩形 3"/>
          <p:cNvSpPr>
            <a:spLocks noGrp="1"/>
          </p:cNvSpPr>
          <p:nvPr/>
        </p:nvSpPr>
        <p:spPr>
          <a:xfrm>
            <a:off x="7429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E44732"/>
                </a:solidFill>
              </a:defRPr>
            </a:pPr>
            <a:r>
              <a:rPr sz="1500" b="1">
                <a:solidFill>
                  <a:srgbClr val="E44732"/>
                </a:solidFill>
              </a:rPr>
              <a:t>减脂 / </a:t>
            </a:r>
            <a:r>
              <a:rPr sz="1500" b="1">
                <a:solidFill>
                  <a:srgbClr val="E44732"/>
                </a:solidFill>
              </a:rPr>
              <a:t>减肥</a:t>
            </a:r>
            <a:endParaRPr sz="1500" b="1">
              <a:solidFill>
                <a:srgbClr val="E44732"/>
              </a:solidFill>
            </a:endParaRPr>
          </a:p>
        </p:txBody>
      </p:sp>
      <p:sp>
        <p:nvSpPr>
          <p:cNvPr id="1048591" name="矩形 4"/>
          <p:cNvSpPr>
            <a:spLocks noGrp="1"/>
          </p:cNvSpPr>
          <p:nvPr/>
        </p:nvSpPr>
        <p:spPr>
          <a:xfrm>
            <a:off x="24574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6865A"/>
                </a:solidFill>
              </a:defRPr>
            </a:pPr>
            <a:r>
              <a:rPr sz="1500" b="1">
                <a:solidFill>
                  <a:srgbClr val="16865A"/>
                </a:solidFill>
              </a:rPr>
              <a:t>控糖 / 慢病</a:t>
            </a:r>
            <a:endParaRPr sz="1500" b="1">
              <a:solidFill>
                <a:srgbClr val="16865A"/>
              </a:solidFill>
            </a:endParaRPr>
          </a:p>
        </p:txBody>
      </p:sp>
      <p:sp>
        <p:nvSpPr>
          <p:cNvPr id="1048592" name="矩形 5"/>
          <p:cNvSpPr>
            <a:spLocks noGrp="1"/>
          </p:cNvSpPr>
          <p:nvPr/>
        </p:nvSpPr>
        <p:spPr>
          <a:xfrm>
            <a:off x="41719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285ED3"/>
                </a:solidFill>
              </a:defRPr>
            </a:pPr>
            <a:r>
              <a:rPr sz="1500" b="1">
                <a:solidFill>
                  <a:srgbClr val="285ED3"/>
                </a:solidFill>
              </a:rPr>
              <a:t>健身 / </a:t>
            </a:r>
            <a:r>
              <a:rPr sz="1500" b="1">
                <a:solidFill>
                  <a:srgbClr val="285ED3"/>
                </a:solidFill>
              </a:rPr>
              <a:t>增肌</a:t>
            </a:r>
            <a:endParaRPr sz="1500" b="1">
              <a:solidFill>
                <a:srgbClr val="285ED3"/>
              </a:solidFill>
            </a:endParaRPr>
          </a:p>
        </p:txBody>
      </p:sp>
      <p:sp>
        <p:nvSpPr>
          <p:cNvPr id="1048593" name="矩形 6"/>
          <p:cNvSpPr>
            <a:spLocks noGrp="1"/>
          </p:cNvSpPr>
          <p:nvPr/>
        </p:nvSpPr>
        <p:spPr>
          <a:xfrm>
            <a:off x="742950" y="20002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他们不是不关心健康，而是记录成本太高。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594" name="矩形 7"/>
          <p:cNvSpPr>
            <a:spLocks noGrp="1"/>
          </p:cNvSpPr>
          <p:nvPr/>
        </p:nvSpPr>
        <p:spPr>
          <a:xfrm>
            <a:off x="742950" y="2895600"/>
            <a:ext cx="19050" cy="161925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95" name="矩形 8"/>
          <p:cNvSpPr>
            <a:spLocks noGrp="1"/>
          </p:cNvSpPr>
          <p:nvPr/>
        </p:nvSpPr>
        <p:spPr>
          <a:xfrm>
            <a:off x="9715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01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596" name="矩形 9"/>
          <p:cNvSpPr>
            <a:spLocks noGrp="1"/>
          </p:cNvSpPr>
          <p:nvPr/>
        </p:nvSpPr>
        <p:spPr>
          <a:xfrm>
            <a:off x="9715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搜索食材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597" name="矩形 10"/>
          <p:cNvSpPr>
            <a:spLocks noGrp="1"/>
          </p:cNvSpPr>
          <p:nvPr/>
        </p:nvSpPr>
        <p:spPr>
          <a:xfrm>
            <a:off x="9715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依赖用户知道准确名称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598" name="矩形 11"/>
          <p:cNvSpPr>
            <a:spLocks noGrp="1"/>
          </p:cNvSpPr>
          <p:nvPr/>
        </p:nvSpPr>
        <p:spPr>
          <a:xfrm>
            <a:off x="4324350" y="2895600"/>
            <a:ext cx="19050" cy="1619250"/>
          </a:xfrm>
          <a:prstGeom prst="rect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599" name="矩形 12"/>
          <p:cNvSpPr>
            <a:spLocks noGrp="1"/>
          </p:cNvSpPr>
          <p:nvPr/>
        </p:nvSpPr>
        <p:spPr>
          <a:xfrm>
            <a:off x="45529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02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600" name="矩形 13"/>
          <p:cNvSpPr>
            <a:spLocks noGrp="1"/>
          </p:cNvSpPr>
          <p:nvPr/>
        </p:nvSpPr>
        <p:spPr>
          <a:xfrm>
            <a:off x="45529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估算份量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601" name="矩形 14"/>
          <p:cNvSpPr>
            <a:spLocks noGrp="1"/>
          </p:cNvSpPr>
          <p:nvPr/>
        </p:nvSpPr>
        <p:spPr>
          <a:xfrm>
            <a:off x="45529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克数常靠经验猜测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602" name="矩形 15"/>
          <p:cNvSpPr>
            <a:spLocks noGrp="1"/>
          </p:cNvSpPr>
          <p:nvPr/>
        </p:nvSpPr>
        <p:spPr>
          <a:xfrm>
            <a:off x="7905750" y="2895600"/>
            <a:ext cx="19050" cy="1619250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03" name="矩形 16"/>
          <p:cNvSpPr>
            <a:spLocks noGrp="1"/>
          </p:cNvSpPr>
          <p:nvPr/>
        </p:nvSpPr>
        <p:spPr>
          <a:xfrm>
            <a:off x="81343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03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604" name="矩形 17"/>
          <p:cNvSpPr>
            <a:spLocks noGrp="1"/>
          </p:cNvSpPr>
          <p:nvPr/>
        </p:nvSpPr>
        <p:spPr>
          <a:xfrm>
            <a:off x="81343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逐项录入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605" name="矩形 18"/>
          <p:cNvSpPr>
            <a:spLocks noGrp="1"/>
          </p:cNvSpPr>
          <p:nvPr/>
        </p:nvSpPr>
        <p:spPr>
          <a:xfrm>
            <a:off x="81343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流程长，难以坚持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606" name="圆角矩形 19"/>
          <p:cNvSpPr>
            <a:spLocks noGrp="1"/>
          </p:cNvSpPr>
          <p:nvPr/>
        </p:nvSpPr>
        <p:spPr>
          <a:xfrm>
            <a:off x="742950" y="4972050"/>
            <a:ext cx="10744200" cy="704850"/>
          </a:xfrm>
          <a:prstGeom prst="roundRect">
            <a:avLst>
              <a:gd name="adj" fmla="val 8108"/>
            </a:avLst>
          </a:prstGeom>
          <a:solidFill>
            <a:srgbClr val="111820"/>
          </a:solidFill>
          <a:ln w="0">
            <a:noFill/>
            <a:prstDash val="solid"/>
          </a:ln>
        </p:spPr>
      </p:sp>
      <p:sp>
        <p:nvSpPr>
          <p:cNvPr id="1048607" name="矩形 20"/>
          <p:cNvSpPr>
            <a:spLocks noGrp="1"/>
          </p:cNvSpPr>
          <p:nvPr/>
        </p:nvSpPr>
        <p:spPr>
          <a:xfrm>
            <a:off x="1028700" y="5153025"/>
            <a:ext cx="1017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用户必须先把一餐“翻译”成数据，门槛高，持续性低。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048608" name="矩形 21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09" name="矩形 22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10" name="矩形 23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02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6" name=""/>
        <p:cNvGrpSpPr/>
        <p:nvPr/>
      </p:nvGrpSpPr>
      <p:grpSpPr/>
      <p:sp>
        <p:nvSpPr>
          <p:cNvPr id="1048636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02  整体方案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37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膳衡智枢：信息随烹饪动作自然生成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38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pic>
        <p:nvPicPr>
          <p:cNvPr id="2097155" name="图片 31"/>
          <p:cNvPicPr>
            <a:picLocks noChangeAspect="1"/>
          </p:cNvPicPr>
          <p:nvPr/>
        </p:nvPicPr>
        <p:blipFill>
          <a:blip r:embed="rId1"/>
          <a:srcRect l="19531" r="19531"/>
          <a:stretch>
            <a:fillRect/>
          </a:stretch>
        </p:blipFill>
        <p:spPr>
          <a:xfrm>
            <a:off x="666750" y="1543050"/>
            <a:ext cx="4333875" cy="4000500"/>
          </a:xfrm>
          <a:prstGeom prst="roundRect">
            <a:avLst>
              <a:gd name="adj" fmla="val 1429"/>
            </a:avLst>
          </a:prstGeom>
        </p:spPr>
      </p:pic>
      <p:sp>
        <p:nvSpPr>
          <p:cNvPr id="1048639" name="圆角矩形 4"/>
          <p:cNvSpPr>
            <a:spLocks noGrp="1"/>
          </p:cNvSpPr>
          <p:nvPr/>
        </p:nvSpPr>
        <p:spPr>
          <a:xfrm>
            <a:off x="876300" y="1752600"/>
            <a:ext cx="1066800" cy="323850"/>
          </a:xfrm>
          <a:prstGeom prst="roundRect">
            <a:avLst>
              <a:gd name="adj" fmla="val 17647"/>
            </a:avLst>
          </a:prstGeom>
          <a:solidFill>
            <a:srgbClr val="00000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048640" name="矩形 5"/>
          <p:cNvSpPr>
            <a:spLocks noGrp="1"/>
          </p:cNvSpPr>
          <p:nvPr/>
        </p:nvSpPr>
        <p:spPr>
          <a:xfrm>
            <a:off x="876300" y="18097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真实设备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048641" name="矩形 6"/>
          <p:cNvSpPr>
            <a:spLocks noGrp="1"/>
          </p:cNvSpPr>
          <p:nvPr/>
        </p:nvSpPr>
        <p:spPr>
          <a:xfrm>
            <a:off x="5619750" y="16192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1">
                <a:solidFill>
                  <a:srgbClr val="68727A"/>
                </a:solidFill>
              </a:defRPr>
            </a:pPr>
            <a:r>
              <a:rPr sz="1800" b="1">
                <a:solidFill>
                  <a:srgbClr val="68727A"/>
                </a:solidFill>
              </a:rPr>
              <a:t>用户只做本来就要做的动作</a:t>
            </a:r>
            <a:endParaRPr sz="1800" b="1">
              <a:solidFill>
                <a:srgbClr val="68727A"/>
              </a:solidFill>
            </a:endParaRPr>
          </a:p>
        </p:txBody>
      </p:sp>
      <p:sp>
        <p:nvSpPr>
          <p:cNvPr id="1048642" name="椭圆 7"/>
          <p:cNvSpPr>
            <a:spLocks noGrp="1"/>
          </p:cNvSpPr>
          <p:nvPr/>
        </p:nvSpPr>
        <p:spPr>
          <a:xfrm>
            <a:off x="5619750" y="2476500"/>
            <a:ext cx="723900" cy="7239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43" name="矩形 8"/>
          <p:cNvSpPr>
            <a:spLocks noGrp="1"/>
          </p:cNvSpPr>
          <p:nvPr/>
        </p:nvSpPr>
        <p:spPr>
          <a:xfrm>
            <a:off x="561975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放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44" name="矩形 9"/>
          <p:cNvSpPr>
            <a:spLocks noGrp="1"/>
          </p:cNvSpPr>
          <p:nvPr/>
        </p:nvSpPr>
        <p:spPr>
          <a:xfrm>
            <a:off x="539115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摄像头识别食材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45" name="燕尾形 10"/>
          <p:cNvSpPr>
            <a:spLocks noGrp="1"/>
          </p:cNvSpPr>
          <p:nvPr/>
        </p:nvSpPr>
        <p:spPr>
          <a:xfrm>
            <a:off x="661035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46" name="椭圆 11"/>
          <p:cNvSpPr>
            <a:spLocks noGrp="1"/>
          </p:cNvSpPr>
          <p:nvPr/>
        </p:nvSpPr>
        <p:spPr>
          <a:xfrm>
            <a:off x="7048500" y="2476500"/>
            <a:ext cx="723900" cy="7239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647" name="矩形 12"/>
          <p:cNvSpPr>
            <a:spLocks noGrp="1"/>
          </p:cNvSpPr>
          <p:nvPr/>
        </p:nvSpPr>
        <p:spPr>
          <a:xfrm>
            <a:off x="704850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称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48" name="矩形 13"/>
          <p:cNvSpPr>
            <a:spLocks noGrp="1"/>
          </p:cNvSpPr>
          <p:nvPr/>
        </p:nvSpPr>
        <p:spPr>
          <a:xfrm>
            <a:off x="681990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HX711给出实际重量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49" name="燕尾形 14"/>
          <p:cNvSpPr>
            <a:spLocks noGrp="1"/>
          </p:cNvSpPr>
          <p:nvPr/>
        </p:nvSpPr>
        <p:spPr>
          <a:xfrm>
            <a:off x="803910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50" name="椭圆 15"/>
          <p:cNvSpPr>
            <a:spLocks noGrp="1"/>
          </p:cNvSpPr>
          <p:nvPr/>
        </p:nvSpPr>
        <p:spPr>
          <a:xfrm>
            <a:off x="8477250" y="2476500"/>
            <a:ext cx="723900" cy="7239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651" name="矩形 16"/>
          <p:cNvSpPr>
            <a:spLocks noGrp="1"/>
          </p:cNvSpPr>
          <p:nvPr/>
        </p:nvSpPr>
        <p:spPr>
          <a:xfrm>
            <a:off x="847725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选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52" name="矩形 17"/>
          <p:cNvSpPr>
            <a:spLocks noGrp="1"/>
          </p:cNvSpPr>
          <p:nvPr/>
        </p:nvSpPr>
        <p:spPr>
          <a:xfrm>
            <a:off x="824865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触控</a:t>
            </a:r>
            <a:r>
              <a:rPr sz="1275" b="1">
                <a:solidFill>
                  <a:srgbClr val="111820"/>
                </a:solidFill>
              </a:rPr>
              <a:t>选择</a:t>
            </a:r>
            <a:r>
              <a:rPr sz="1275" b="1">
                <a:solidFill>
                  <a:srgbClr val="111820"/>
                </a:solidFill>
              </a:rPr>
              <a:t>烹饪方式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53" name="燕尾形 18"/>
          <p:cNvSpPr>
            <a:spLocks noGrp="1"/>
          </p:cNvSpPr>
          <p:nvPr/>
        </p:nvSpPr>
        <p:spPr>
          <a:xfrm>
            <a:off x="946785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54" name="椭圆 19"/>
          <p:cNvSpPr>
            <a:spLocks noGrp="1"/>
          </p:cNvSpPr>
          <p:nvPr/>
        </p:nvSpPr>
        <p:spPr>
          <a:xfrm>
            <a:off x="9906000" y="2476500"/>
            <a:ext cx="723900" cy="7239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55" name="矩形 20"/>
          <p:cNvSpPr>
            <a:spLocks noGrp="1"/>
          </p:cNvSpPr>
          <p:nvPr/>
        </p:nvSpPr>
        <p:spPr>
          <a:xfrm>
            <a:off x="990600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得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56" name="矩形 21"/>
          <p:cNvSpPr>
            <a:spLocks noGrp="1"/>
          </p:cNvSpPr>
          <p:nvPr/>
        </p:nvSpPr>
        <p:spPr>
          <a:xfrm>
            <a:off x="967740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端侧输出完整营养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57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58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59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03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3" name=""/>
        <p:cNvGrpSpPr/>
        <p:nvPr/>
      </p:nvGrpSpPr>
      <p:grpSpPr/>
      <p:sp>
        <p:nvSpPr>
          <p:cNvPr id="1048614" name="矩形 21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03  物联网技术 · 物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15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物：一台会看、会称、会算的边缘终端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16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pic>
        <p:nvPicPr>
          <p:cNvPr id="2097153" name="图片 24"/>
          <p:cNvPicPr>
            <a:picLocks noChangeAspect="1"/>
          </p:cNvPicPr>
          <p:nvPr/>
        </p:nvPicPr>
        <p:blipFill>
          <a:blip r:embed="rId1"/>
          <a:srcRect t="8295" b="8295"/>
          <a:stretch>
            <a:fillRect/>
          </a:stretch>
        </p:blipFill>
        <p:spPr>
          <a:xfrm>
            <a:off x="666750" y="1562100"/>
            <a:ext cx="5219700" cy="3276600"/>
          </a:xfrm>
          <a:prstGeom prst="roundRect">
            <a:avLst>
              <a:gd name="adj" fmla="val 1744"/>
            </a:avLst>
          </a:prstGeom>
        </p:spPr>
      </p:pic>
      <p:pic>
        <p:nvPicPr>
          <p:cNvPr id="2097154" name="图片 25"/>
          <p:cNvPicPr>
            <a:picLocks noChangeAspect="1"/>
          </p:cNvPicPr>
          <p:nvPr/>
        </p:nvPicPr>
        <p:blipFill>
          <a:blip r:embed="rId2"/>
          <a:srcRect t="22708" b="22708"/>
          <a:stretch>
            <a:fillRect/>
          </a:stretch>
        </p:blipFill>
        <p:spPr>
          <a:xfrm>
            <a:off x="6172200" y="1562100"/>
            <a:ext cx="5353050" cy="3276600"/>
          </a:xfrm>
          <a:prstGeom prst="roundRect">
            <a:avLst>
              <a:gd name="adj" fmla="val 1744"/>
            </a:avLst>
          </a:prstGeom>
        </p:spPr>
      </p:pic>
      <p:sp>
        <p:nvSpPr>
          <p:cNvPr id="1048617" name="椭圆 5"/>
          <p:cNvSpPr>
            <a:spLocks noGrp="1"/>
          </p:cNvSpPr>
          <p:nvPr/>
        </p:nvSpPr>
        <p:spPr>
          <a:xfrm>
            <a:off x="685800" y="5200650"/>
            <a:ext cx="114300" cy="1143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18" name="矩形 6"/>
          <p:cNvSpPr>
            <a:spLocks noGrp="1"/>
          </p:cNvSpPr>
          <p:nvPr/>
        </p:nvSpPr>
        <p:spPr>
          <a:xfrm>
            <a:off x="89535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ESP32-P4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19" name="矩形 7"/>
          <p:cNvSpPr>
            <a:spLocks noGrp="1"/>
          </p:cNvSpPr>
          <p:nvPr/>
        </p:nvSpPr>
        <p:spPr>
          <a:xfrm>
            <a:off x="89535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360MHz双核RISC-V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0" name="椭圆 8"/>
          <p:cNvSpPr>
            <a:spLocks noGrp="1"/>
          </p:cNvSpPr>
          <p:nvPr/>
        </p:nvSpPr>
        <p:spPr>
          <a:xfrm>
            <a:off x="3409950" y="5200650"/>
            <a:ext cx="114300" cy="1143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621" name="矩形 9"/>
          <p:cNvSpPr>
            <a:spLocks noGrp="1"/>
          </p:cNvSpPr>
          <p:nvPr/>
        </p:nvSpPr>
        <p:spPr>
          <a:xfrm>
            <a:off x="361950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摄像头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2" name="矩形 10"/>
          <p:cNvSpPr>
            <a:spLocks noGrp="1"/>
          </p:cNvSpPr>
          <p:nvPr/>
        </p:nvSpPr>
        <p:spPr>
          <a:xfrm>
            <a:off x="361950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YOLO11n端侧识别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3" name="椭圆 11"/>
          <p:cNvSpPr>
            <a:spLocks noGrp="1"/>
          </p:cNvSpPr>
          <p:nvPr/>
        </p:nvSpPr>
        <p:spPr>
          <a:xfrm>
            <a:off x="6134100" y="5200650"/>
            <a:ext cx="114300" cy="1143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624" name="矩形 12"/>
          <p:cNvSpPr>
            <a:spLocks noGrp="1"/>
          </p:cNvSpPr>
          <p:nvPr/>
        </p:nvSpPr>
        <p:spPr>
          <a:xfrm>
            <a:off x="634365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HX711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5" name="矩形 13"/>
          <p:cNvSpPr>
            <a:spLocks noGrp="1"/>
          </p:cNvSpPr>
          <p:nvPr/>
        </p:nvSpPr>
        <p:spPr>
          <a:xfrm>
            <a:off x="634365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24位ADC精确称重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6" name="椭圆 14"/>
          <p:cNvSpPr>
            <a:spLocks noGrp="1"/>
          </p:cNvSpPr>
          <p:nvPr/>
        </p:nvSpPr>
        <p:spPr>
          <a:xfrm>
            <a:off x="8858250" y="5200650"/>
            <a:ext cx="114300" cy="1143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27" name="矩形 15"/>
          <p:cNvSpPr>
            <a:spLocks noGrp="1"/>
          </p:cNvSpPr>
          <p:nvPr/>
        </p:nvSpPr>
        <p:spPr>
          <a:xfrm>
            <a:off x="906780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触控屏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8" name="矩形 16"/>
          <p:cNvSpPr>
            <a:spLocks noGrp="1"/>
          </p:cNvSpPr>
          <p:nvPr/>
        </p:nvSpPr>
        <p:spPr>
          <a:xfrm>
            <a:off x="906780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480×640交互显示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9" name="矩形 17"/>
          <p:cNvSpPr>
            <a:spLocks noGrp="1"/>
          </p:cNvSpPr>
          <p:nvPr/>
        </p:nvSpPr>
        <p:spPr>
          <a:xfrm>
            <a:off x="666750" y="590550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00" b="1">
                <a:solidFill>
                  <a:srgbClr val="111820"/>
                </a:solidFill>
              </a:defRPr>
            </a:pPr>
            <a:r>
              <a:rPr sz="1800" b="1">
                <a:solidFill>
                  <a:srgbClr val="111820"/>
                </a:solidFill>
              </a:rPr>
              <a:t>多传感器融合，就地完成识别、称量与计算</a:t>
            </a:r>
            <a:endParaRPr sz="1800" b="1">
              <a:solidFill>
                <a:srgbClr val="111820"/>
              </a:solidFill>
            </a:endParaRPr>
          </a:p>
        </p:txBody>
      </p:sp>
      <p:sp>
        <p:nvSpPr>
          <p:cNvPr id="1048630" name="矩形 18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31" name="矩形 19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32" name="矩形 20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04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2" name=""/>
        <p:cNvGrpSpPr/>
        <p:nvPr/>
      </p:nvGrpSpPr>
      <p:grpSpPr/>
      <p:sp>
        <p:nvSpPr>
          <p:cNvPr id="1048693" name="矩形 34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05  物间事务运作机制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94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从锅边到建议，一条数据完成闭环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95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96" name="椭圆 3"/>
          <p:cNvSpPr>
            <a:spLocks noGrp="1"/>
          </p:cNvSpPr>
          <p:nvPr/>
        </p:nvSpPr>
        <p:spPr>
          <a:xfrm>
            <a:off x="1219200" y="2114550"/>
            <a:ext cx="876300" cy="8763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97" name="矩形 4"/>
          <p:cNvSpPr>
            <a:spLocks noGrp="1"/>
          </p:cNvSpPr>
          <p:nvPr/>
        </p:nvSpPr>
        <p:spPr>
          <a:xfrm>
            <a:off x="12192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698" name="矩形 5"/>
          <p:cNvSpPr>
            <a:spLocks noGrp="1"/>
          </p:cNvSpPr>
          <p:nvPr/>
        </p:nvSpPr>
        <p:spPr>
          <a:xfrm>
            <a:off x="6858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设备感知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699" name="矩形 6"/>
          <p:cNvSpPr>
            <a:spLocks noGrp="1"/>
          </p:cNvSpPr>
          <p:nvPr/>
        </p:nvSpPr>
        <p:spPr>
          <a:xfrm>
            <a:off x="7620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放 / 称 / 选 / 得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00" name="燕尾形 7"/>
          <p:cNvSpPr>
            <a:spLocks noGrp="1"/>
          </p:cNvSpPr>
          <p:nvPr/>
        </p:nvSpPr>
        <p:spPr>
          <a:xfrm>
            <a:off x="249555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01" name="椭圆 8"/>
          <p:cNvSpPr>
            <a:spLocks noGrp="1"/>
          </p:cNvSpPr>
          <p:nvPr/>
        </p:nvSpPr>
        <p:spPr>
          <a:xfrm>
            <a:off x="3371850" y="2114550"/>
            <a:ext cx="876300" cy="8763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702" name="矩形 9"/>
          <p:cNvSpPr>
            <a:spLocks noGrp="1"/>
          </p:cNvSpPr>
          <p:nvPr/>
        </p:nvSpPr>
        <p:spPr>
          <a:xfrm>
            <a:off x="337185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03" name="矩形 10"/>
          <p:cNvSpPr>
            <a:spLocks noGrp="1"/>
          </p:cNvSpPr>
          <p:nvPr/>
        </p:nvSpPr>
        <p:spPr>
          <a:xfrm>
            <a:off x="283845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端侧计算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04" name="矩形 11"/>
          <p:cNvSpPr>
            <a:spLocks noGrp="1"/>
          </p:cNvSpPr>
          <p:nvPr/>
        </p:nvSpPr>
        <p:spPr>
          <a:xfrm>
            <a:off x="291465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营养结果即时生成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05" name="燕尾形 12"/>
          <p:cNvSpPr>
            <a:spLocks noGrp="1"/>
          </p:cNvSpPr>
          <p:nvPr/>
        </p:nvSpPr>
        <p:spPr>
          <a:xfrm>
            <a:off x="464820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06" name="椭圆 13"/>
          <p:cNvSpPr>
            <a:spLocks noGrp="1"/>
          </p:cNvSpPr>
          <p:nvPr/>
        </p:nvSpPr>
        <p:spPr>
          <a:xfrm>
            <a:off x="5524500" y="2114550"/>
            <a:ext cx="876300" cy="8763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707" name="矩形 14"/>
          <p:cNvSpPr>
            <a:spLocks noGrp="1"/>
          </p:cNvSpPr>
          <p:nvPr/>
        </p:nvSpPr>
        <p:spPr>
          <a:xfrm>
            <a:off x="55245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08" name="矩形 15"/>
          <p:cNvSpPr>
            <a:spLocks noGrp="1"/>
          </p:cNvSpPr>
          <p:nvPr/>
        </p:nvSpPr>
        <p:spPr>
          <a:xfrm>
            <a:off x="49911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云端沉淀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09" name="矩形 16"/>
          <p:cNvSpPr>
            <a:spLocks noGrp="1"/>
          </p:cNvSpPr>
          <p:nvPr/>
        </p:nvSpPr>
        <p:spPr>
          <a:xfrm>
            <a:off x="50673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餐食入库与分层聚合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10" name="燕尾形 17"/>
          <p:cNvSpPr>
            <a:spLocks noGrp="1"/>
          </p:cNvSpPr>
          <p:nvPr/>
        </p:nvSpPr>
        <p:spPr>
          <a:xfrm>
            <a:off x="680085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11" name="椭圆 18"/>
          <p:cNvSpPr>
            <a:spLocks noGrp="1"/>
          </p:cNvSpPr>
          <p:nvPr/>
        </p:nvSpPr>
        <p:spPr>
          <a:xfrm>
            <a:off x="7677150" y="2114550"/>
            <a:ext cx="876300" cy="876300"/>
          </a:xfrm>
          <a:prstGeom prst="ellipse">
            <a:avLst/>
          </a:prstGeom>
          <a:solidFill>
            <a:srgbClr val="70558E"/>
          </a:solidFill>
          <a:ln w="0">
            <a:noFill/>
            <a:prstDash val="solid"/>
          </a:ln>
        </p:spPr>
      </p:sp>
      <p:sp>
        <p:nvSpPr>
          <p:cNvPr id="1048712" name="矩形 19"/>
          <p:cNvSpPr>
            <a:spLocks noGrp="1"/>
          </p:cNvSpPr>
          <p:nvPr/>
        </p:nvSpPr>
        <p:spPr>
          <a:xfrm>
            <a:off x="767715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13" name="矩形 20"/>
          <p:cNvSpPr>
            <a:spLocks noGrp="1"/>
          </p:cNvSpPr>
          <p:nvPr/>
        </p:nvSpPr>
        <p:spPr>
          <a:xfrm>
            <a:off x="714375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AI</a:t>
            </a:r>
            <a:r>
              <a:rPr sz="1725" b="1">
                <a:solidFill>
                  <a:srgbClr val="111820"/>
                </a:solidFill>
              </a:rPr>
              <a:t>赋能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14" name="矩形 21"/>
          <p:cNvSpPr>
            <a:spLocks noGrp="1"/>
          </p:cNvSpPr>
          <p:nvPr/>
        </p:nvSpPr>
        <p:spPr>
          <a:xfrm>
            <a:off x="721995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RAG检索与个性化建议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15" name="燕尾形 22"/>
          <p:cNvSpPr>
            <a:spLocks noGrp="1"/>
          </p:cNvSpPr>
          <p:nvPr/>
        </p:nvSpPr>
        <p:spPr>
          <a:xfrm>
            <a:off x="895350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16" name="椭圆 23"/>
          <p:cNvSpPr>
            <a:spLocks noGrp="1"/>
          </p:cNvSpPr>
          <p:nvPr/>
        </p:nvSpPr>
        <p:spPr>
          <a:xfrm>
            <a:off x="9829800" y="2114550"/>
            <a:ext cx="876300" cy="8763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17" name="矩形 24"/>
          <p:cNvSpPr>
            <a:spLocks noGrp="1"/>
          </p:cNvSpPr>
          <p:nvPr/>
        </p:nvSpPr>
        <p:spPr>
          <a:xfrm>
            <a:off x="98298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05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18" name="矩形 25"/>
          <p:cNvSpPr>
            <a:spLocks noGrp="1"/>
          </p:cNvSpPr>
          <p:nvPr/>
        </p:nvSpPr>
        <p:spPr>
          <a:xfrm>
            <a:off x="92964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用户查看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19" name="矩形 26"/>
          <p:cNvSpPr>
            <a:spLocks noGrp="1"/>
          </p:cNvSpPr>
          <p:nvPr/>
        </p:nvSpPr>
        <p:spPr>
          <a:xfrm>
            <a:off x="93726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Web / App呈现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20" name="矩形 27"/>
          <p:cNvSpPr>
            <a:spLocks noGrp="1"/>
          </p:cNvSpPr>
          <p:nvPr/>
        </p:nvSpPr>
        <p:spPr>
          <a:xfrm>
            <a:off x="1390650" y="4724400"/>
            <a:ext cx="9410700" cy="19050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21" name="矩形 28"/>
          <p:cNvSpPr>
            <a:spLocks noGrp="1"/>
          </p:cNvSpPr>
          <p:nvPr/>
        </p:nvSpPr>
        <p:spPr>
          <a:xfrm>
            <a:off x="1485900" y="49720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1">
                <a:solidFill>
                  <a:srgbClr val="E44732"/>
                </a:solidFill>
              </a:defRPr>
            </a:pPr>
            <a:r>
              <a:rPr sz="1800" b="1">
                <a:solidFill>
                  <a:srgbClr val="E44732"/>
                </a:solidFill>
              </a:rPr>
              <a:t>实时闭环留在端侧</a:t>
            </a:r>
            <a:endParaRPr sz="1800" b="1">
              <a:solidFill>
                <a:srgbClr val="E44732"/>
              </a:solidFill>
            </a:endParaRPr>
          </a:p>
        </p:txBody>
      </p:sp>
      <p:sp>
        <p:nvSpPr>
          <p:cNvPr id="1048722" name="矩形 29"/>
          <p:cNvSpPr>
            <a:spLocks noGrp="1"/>
          </p:cNvSpPr>
          <p:nvPr/>
        </p:nvSpPr>
        <p:spPr>
          <a:xfrm>
            <a:off x="7810500" y="49720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1800" b="1">
                <a:solidFill>
                  <a:srgbClr val="16865A"/>
                </a:solidFill>
              </a:defRPr>
            </a:pPr>
            <a:r>
              <a:rPr sz="1800" b="1">
                <a:solidFill>
                  <a:srgbClr val="16865A"/>
                </a:solidFill>
              </a:rPr>
              <a:t>长期认知交给云端</a:t>
            </a:r>
            <a:endParaRPr sz="1800" b="1">
              <a:solidFill>
                <a:srgbClr val="16865A"/>
              </a:solidFill>
            </a:endParaRPr>
          </a:p>
        </p:txBody>
      </p:sp>
      <p:sp>
        <p:nvSpPr>
          <p:cNvPr id="1048723" name="矩形 30"/>
          <p:cNvSpPr>
            <a:spLocks noGrp="1"/>
          </p:cNvSpPr>
          <p:nvPr/>
        </p:nvSpPr>
        <p:spPr>
          <a:xfrm>
            <a:off x="2381250" y="556260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950" b="1">
                <a:solidFill>
                  <a:srgbClr val="111820"/>
                </a:solidFill>
              </a:defRPr>
            </a:pPr>
            <a:r>
              <a:rPr sz="1950" b="1">
                <a:solidFill>
                  <a:srgbClr val="111820"/>
                </a:solidFill>
              </a:rPr>
              <a:t>每一餐不止被记录，还会进入后续分析与规划</a:t>
            </a:r>
            <a:endParaRPr sz="1950" b="1">
              <a:solidFill>
                <a:srgbClr val="111820"/>
              </a:solidFill>
            </a:endParaRPr>
          </a:p>
        </p:txBody>
      </p:sp>
      <p:sp>
        <p:nvSpPr>
          <p:cNvPr id="1048724" name="矩形 31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25" name="矩形 32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26" name="矩形 33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06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5" name=""/>
        <p:cNvGrpSpPr/>
        <p:nvPr/>
      </p:nvGrpSpPr>
      <p:grpSpPr/>
      <p:sp>
        <p:nvSpPr>
          <p:cNvPr id="1048730" name="矩形 27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06  针对性创新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31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创新不是堆技术，而是把计算放在合适的位置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32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33" name="圆角矩形 3"/>
          <p:cNvSpPr>
            <a:spLocks noGrp="1"/>
          </p:cNvSpPr>
          <p:nvPr/>
        </p:nvSpPr>
        <p:spPr>
          <a:xfrm>
            <a:off x="685800" y="1619250"/>
            <a:ext cx="5143500" cy="2305050"/>
          </a:xfrm>
          <a:prstGeom prst="roundRect">
            <a:avLst>
              <a:gd name="adj" fmla="val 2479"/>
            </a:avLst>
          </a:prstGeom>
          <a:solidFill>
            <a:srgbClr val="FBEAE6"/>
          </a:solidFill>
          <a:ln w="0">
            <a:noFill/>
            <a:prstDash val="solid"/>
          </a:ln>
        </p:spPr>
      </p:sp>
      <p:sp>
        <p:nvSpPr>
          <p:cNvPr id="1048734" name="矩形 4"/>
          <p:cNvSpPr>
            <a:spLocks noGrp="1"/>
          </p:cNvSpPr>
          <p:nvPr/>
        </p:nvSpPr>
        <p:spPr>
          <a:xfrm>
            <a:off x="990600" y="1885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E44732"/>
                </a:solidFill>
              </a:defRPr>
            </a:pPr>
            <a:r>
              <a:rPr sz="1875" b="1">
                <a:solidFill>
                  <a:srgbClr val="E44732"/>
                </a:solidFill>
              </a:rPr>
              <a:t>端侧 · </a:t>
            </a:r>
            <a:r>
              <a:rPr sz="1875" b="1">
                <a:solidFill>
                  <a:srgbClr val="E44732"/>
                </a:solidFill>
              </a:rPr>
              <a:t>方便</a:t>
            </a:r>
            <a:endParaRPr sz="1875" b="1">
              <a:solidFill>
                <a:srgbClr val="E44732"/>
              </a:solidFill>
            </a:endParaRPr>
          </a:p>
        </p:txBody>
      </p:sp>
      <p:sp>
        <p:nvSpPr>
          <p:cNvPr id="1048735" name="矩形 5"/>
          <p:cNvSpPr>
            <a:spLocks noGrp="1"/>
          </p:cNvSpPr>
          <p:nvPr/>
        </p:nvSpPr>
        <p:spPr>
          <a:xfrm>
            <a:off x="990600" y="2343150"/>
            <a:ext cx="580453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450" b="1">
                <a:solidFill>
                  <a:srgbClr val="111820"/>
                </a:solidFill>
              </a:defRPr>
            </a:pPr>
            <a:r>
              <a:rPr sz="3450" b="1">
                <a:solidFill>
                  <a:srgbClr val="111820"/>
                </a:solidFill>
              </a:rPr>
              <a:t>无感操作</a:t>
            </a:r>
            <a:endParaRPr sz="3450" b="1">
              <a:solidFill>
                <a:srgbClr val="111820"/>
              </a:solidFill>
            </a:endParaRPr>
          </a:p>
        </p:txBody>
      </p:sp>
      <p:sp>
        <p:nvSpPr>
          <p:cNvPr id="1048736" name="矩形 6"/>
          <p:cNvSpPr>
            <a:spLocks noGrp="1"/>
          </p:cNvSpPr>
          <p:nvPr/>
        </p:nvSpPr>
        <p:spPr>
          <a:xfrm>
            <a:off x="990600" y="3028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提升用户坚持率</a:t>
            </a:r>
            <a:endParaRPr sz="1350" b="0">
              <a:solidFill>
                <a:srgbClr val="68727A"/>
              </a:solidFill>
            </a:endParaRPr>
          </a:p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737" name="矩形 7"/>
          <p:cNvSpPr>
            <a:spLocks noGrp="1"/>
          </p:cNvSpPr>
          <p:nvPr/>
        </p:nvSpPr>
        <p:spPr>
          <a:xfrm>
            <a:off x="990600" y="3486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11820"/>
                </a:solidFill>
              </a:defRPr>
            </a:pPr>
            <a:r>
              <a:rPr sz="1500" b="1">
                <a:solidFill>
                  <a:srgbClr val="111820"/>
                </a:solidFill>
              </a:rPr>
              <a:t>YOLO + LightGBM本地联动，不等待网络往返</a:t>
            </a:r>
            <a:endParaRPr sz="1500" b="1">
              <a:solidFill>
                <a:srgbClr val="111820"/>
              </a:solidFill>
            </a:endParaRPr>
          </a:p>
        </p:txBody>
      </p:sp>
      <p:sp>
        <p:nvSpPr>
          <p:cNvPr id="1048738" name="圆角矩形 8"/>
          <p:cNvSpPr>
            <a:spLocks noGrp="1"/>
          </p:cNvSpPr>
          <p:nvPr/>
        </p:nvSpPr>
        <p:spPr>
          <a:xfrm>
            <a:off x="6362700" y="1619250"/>
            <a:ext cx="5143500" cy="2305050"/>
          </a:xfrm>
          <a:prstGeom prst="roundRect">
            <a:avLst>
              <a:gd name="adj" fmla="val 2479"/>
            </a:avLst>
          </a:prstGeom>
          <a:solidFill>
            <a:srgbClr val="E4F2EA"/>
          </a:solidFill>
          <a:ln w="0">
            <a:noFill/>
            <a:prstDash val="solid"/>
          </a:ln>
        </p:spPr>
      </p:sp>
      <p:sp>
        <p:nvSpPr>
          <p:cNvPr id="1048739" name="矩形 9"/>
          <p:cNvSpPr>
            <a:spLocks noGrp="1"/>
          </p:cNvSpPr>
          <p:nvPr/>
        </p:nvSpPr>
        <p:spPr>
          <a:xfrm>
            <a:off x="6667500" y="1885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16865A"/>
                </a:solidFill>
              </a:defRPr>
            </a:pPr>
            <a:r>
              <a:rPr sz="1875" b="1">
                <a:solidFill>
                  <a:srgbClr val="16865A"/>
                </a:solidFill>
              </a:rPr>
              <a:t>云端 · </a:t>
            </a:r>
            <a:r>
              <a:rPr sz="1875" b="1">
                <a:solidFill>
                  <a:srgbClr val="16865A"/>
                </a:solidFill>
              </a:rPr>
              <a:t>全面</a:t>
            </a:r>
            <a:endParaRPr sz="1875" b="1">
              <a:solidFill>
                <a:srgbClr val="16865A"/>
              </a:solidFill>
            </a:endParaRPr>
          </a:p>
        </p:txBody>
      </p:sp>
      <p:sp>
        <p:nvSpPr>
          <p:cNvPr id="1048740" name="矩形 10"/>
          <p:cNvSpPr>
            <a:spLocks noGrp="1"/>
          </p:cNvSpPr>
          <p:nvPr/>
        </p:nvSpPr>
        <p:spPr>
          <a:xfrm>
            <a:off x="6667500" y="24003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850" b="1">
                <a:solidFill>
                  <a:srgbClr val="111820"/>
                </a:solidFill>
              </a:defRPr>
            </a:pPr>
            <a:r>
              <a:rPr sz="2850" b="1">
                <a:solidFill>
                  <a:srgbClr val="111820"/>
                </a:solidFill>
              </a:rPr>
              <a:t>RAG + 大模型</a:t>
            </a:r>
            <a:endParaRPr sz="2850" b="1">
              <a:solidFill>
                <a:srgbClr val="111820"/>
              </a:solidFill>
            </a:endParaRPr>
          </a:p>
        </p:txBody>
      </p:sp>
      <p:sp>
        <p:nvSpPr>
          <p:cNvPr id="1048741" name="矩形 11"/>
          <p:cNvSpPr>
            <a:spLocks noGrp="1"/>
          </p:cNvSpPr>
          <p:nvPr/>
        </p:nvSpPr>
        <p:spPr>
          <a:xfrm>
            <a:off x="6667500" y="3105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长期档案、知识检索、个性化规划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742" name="矩形 12"/>
          <p:cNvSpPr>
            <a:spLocks noGrp="1"/>
          </p:cNvSpPr>
          <p:nvPr/>
        </p:nvSpPr>
        <p:spPr>
          <a:xfrm>
            <a:off x="6667500" y="3486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11820"/>
                </a:solidFill>
              </a:defRPr>
            </a:pPr>
            <a:r>
              <a:rPr sz="1500" b="1">
                <a:solidFill>
                  <a:srgbClr val="111820"/>
                </a:solidFill>
              </a:rPr>
              <a:t>计算资源与数据整合按需扩展</a:t>
            </a:r>
            <a:endParaRPr sz="1500" b="1">
              <a:solidFill>
                <a:srgbClr val="111820"/>
              </a:solidFill>
            </a:endParaRPr>
          </a:p>
        </p:txBody>
      </p:sp>
      <p:sp>
        <p:nvSpPr>
          <p:cNvPr id="1048743" name="椭圆 13"/>
          <p:cNvSpPr>
            <a:spLocks noGrp="1"/>
          </p:cNvSpPr>
          <p:nvPr/>
        </p:nvSpPr>
        <p:spPr>
          <a:xfrm>
            <a:off x="723900" y="4610100"/>
            <a:ext cx="152400" cy="1524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44" name="矩形 14"/>
          <p:cNvSpPr>
            <a:spLocks noGrp="1"/>
          </p:cNvSpPr>
          <p:nvPr/>
        </p:nvSpPr>
        <p:spPr>
          <a:xfrm>
            <a:off x="1009650" y="4495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动作即数据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45" name="矩形 15"/>
          <p:cNvSpPr>
            <a:spLocks noGrp="1"/>
          </p:cNvSpPr>
          <p:nvPr/>
        </p:nvSpPr>
        <p:spPr>
          <a:xfrm>
            <a:off x="1009650" y="49149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放、称、选自然完成采集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46" name="椭圆 19"/>
          <p:cNvSpPr>
            <a:spLocks noGrp="1"/>
          </p:cNvSpPr>
          <p:nvPr/>
        </p:nvSpPr>
        <p:spPr>
          <a:xfrm>
            <a:off x="7886700" y="4610100"/>
            <a:ext cx="152400" cy="1524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47" name="矩形 20"/>
          <p:cNvSpPr>
            <a:spLocks noGrp="1"/>
          </p:cNvSpPr>
          <p:nvPr/>
        </p:nvSpPr>
        <p:spPr>
          <a:xfrm>
            <a:off x="8172450" y="4495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分层归档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48" name="矩形 21"/>
          <p:cNvSpPr>
            <a:spLocks noGrp="1"/>
          </p:cNvSpPr>
          <p:nvPr/>
        </p:nvSpPr>
        <p:spPr>
          <a:xfrm>
            <a:off x="8172450" y="49149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日 / 周 / 月 / 年长期可追溯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49" name="矩形 22"/>
          <p:cNvSpPr>
            <a:spLocks noGrp="1"/>
          </p:cNvSpPr>
          <p:nvPr/>
        </p:nvSpPr>
        <p:spPr>
          <a:xfrm>
            <a:off x="685800" y="5772150"/>
            <a:ext cx="10820400" cy="28575"/>
          </a:xfrm>
          <a:prstGeom prst="rect">
            <a:avLst/>
          </a:prstGeom>
          <a:solidFill>
            <a:srgbClr val="111820"/>
          </a:solidFill>
          <a:ln w="0">
            <a:noFill/>
            <a:prstDash val="solid"/>
          </a:ln>
        </p:spPr>
      </p:sp>
      <p:sp>
        <p:nvSpPr>
          <p:cNvPr id="1048750" name="矩形 23"/>
          <p:cNvSpPr>
            <a:spLocks noGrp="1"/>
          </p:cNvSpPr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00" b="1">
                <a:solidFill>
                  <a:srgbClr val="111820"/>
                </a:solidFill>
              </a:defRPr>
            </a:pPr>
            <a:r>
              <a:rPr sz="1800" b="1">
                <a:solidFill>
                  <a:srgbClr val="111820"/>
                </a:solidFill>
              </a:rPr>
              <a:t>端侧保证即时体验，云端承接长期认知</a:t>
            </a:r>
            <a:endParaRPr sz="1800" b="1">
              <a:solidFill>
                <a:srgbClr val="111820"/>
              </a:solidFill>
            </a:endParaRPr>
          </a:p>
        </p:txBody>
      </p:sp>
      <p:sp>
        <p:nvSpPr>
          <p:cNvPr id="1048751" name="矩形 24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52" name="矩形 25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53" name="矩形 26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07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8" name=""/>
        <p:cNvGrpSpPr/>
        <p:nvPr/>
      </p:nvGrpSpPr>
      <p:grpSpPr/>
      <p:sp>
        <p:nvSpPr>
          <p:cNvPr id="1048757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07  云端证据 · 数据看板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58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一餐上云后，先变成可追踪的营养趋势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59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60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61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62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08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63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64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3F2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65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66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16865A"/>
                </a:solidFill>
              </a:defRPr>
            </a:pPr>
            <a:r>
              <a:rPr sz="1200" b="1">
                <a:solidFill>
                  <a:srgbClr val="16865A"/>
                </a:solidFill>
              </a:rPr>
              <a:t>真实运行界面</a:t>
            </a:r>
            <a:endParaRPr sz="1200" b="1">
              <a:solidFill>
                <a:srgbClr val="16865A"/>
              </a:solidFill>
            </a:endParaRPr>
          </a:p>
        </p:txBody>
      </p:sp>
      <p:sp>
        <p:nvSpPr>
          <p:cNvPr id="1048767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lang="zh-CN" sz="3150" b="1">
                <a:solidFill>
                  <a:srgbClr val="111820"/>
                </a:solidFill>
                <a:ea typeface="宋体" panose="02010600030101010101" pitchFamily="2" charset="-122"/>
              </a:rPr>
              <a:t>数据总结</a:t>
            </a:r>
            <a:endParaRPr lang="zh-CN" sz="3150" b="1">
              <a:solidFill>
                <a:srgbClr val="111820"/>
              </a:solidFill>
              <a:ea typeface="宋体" panose="02010600030101010101" pitchFamily="2" charset="-122"/>
            </a:endParaRPr>
          </a:p>
        </p:txBody>
      </p:sp>
      <p:sp>
        <p:nvSpPr>
          <p:cNvPr id="1048768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近期饮食一目了然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69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70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热量、三大营养与常吃食物同步汇总。</a:t>
            </a:r>
            <a:endParaRPr sz="1275" b="0">
              <a:solidFill>
                <a:srgbClr val="66717A"/>
              </a:solidFill>
            </a:endParaRPr>
          </a:p>
          <a:p>
            <a:endParaRPr sz="1275"/>
          </a:p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单次结果由此成为持续可读的数据资产。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1" name=""/>
        <p:cNvGrpSpPr/>
        <p:nvPr/>
      </p:nvGrpSpPr>
      <p:grpSpPr/>
      <p:sp>
        <p:nvSpPr>
          <p:cNvPr id="1048774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08  云端证据 · 营养报告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75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记录被自动归档，而不是停留在流水账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76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77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78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79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09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80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7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81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8EE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82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2458D6"/>
          </a:solidFill>
          <a:ln w="0">
            <a:noFill/>
            <a:prstDash val="solid"/>
          </a:ln>
        </p:spPr>
      </p:sp>
      <p:sp>
        <p:nvSpPr>
          <p:cNvPr id="1048783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2458D6"/>
                </a:solidFill>
              </a:defRPr>
            </a:pPr>
            <a:r>
              <a:rPr sz="1200" b="1">
                <a:solidFill>
                  <a:srgbClr val="2458D6"/>
                </a:solidFill>
              </a:rPr>
              <a:t>自动聚合</a:t>
            </a:r>
            <a:endParaRPr sz="1200" b="1">
              <a:solidFill>
                <a:srgbClr val="2458D6"/>
              </a:solidFill>
            </a:endParaRPr>
          </a:p>
        </p:txBody>
      </p:sp>
      <p:sp>
        <p:nvSpPr>
          <p:cNvPr id="1048784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sz="3150" b="1">
                <a:solidFill>
                  <a:srgbClr val="111820"/>
                </a:solidFill>
              </a:rPr>
              <a:t>日·周·月·年</a:t>
            </a:r>
            <a:endParaRPr sz="3150" b="1">
              <a:solidFill>
                <a:srgbClr val="111820"/>
              </a:solidFill>
            </a:endParaRPr>
          </a:p>
        </p:txBody>
      </p:sp>
      <p:sp>
        <p:nvSpPr>
          <p:cNvPr id="1048785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从单餐走向长期管理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86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2458D6"/>
          </a:solidFill>
          <a:ln w="0">
            <a:noFill/>
            <a:prstDash val="solid"/>
          </a:ln>
        </p:spPr>
      </p:sp>
      <p:sp>
        <p:nvSpPr>
          <p:cNvPr id="1048787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系统按周期生成营养报告，呈现趋势、分布、常吃食物与阶段性建议。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4" name=""/>
        <p:cNvGrpSpPr/>
        <p:nvPr/>
      </p:nvGrpSpPr>
      <p:grpSpPr/>
      <p:sp>
        <p:nvSpPr>
          <p:cNvPr id="1048791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09  云端证据 · AI健康助手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92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RAG读取个人历史，让建议真正因人而异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93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94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95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96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10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97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8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98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EEAF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99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69548A"/>
          </a:solidFill>
          <a:ln w="0">
            <a:noFill/>
            <a:prstDash val="solid"/>
          </a:ln>
        </p:spPr>
      </p:sp>
      <p:sp>
        <p:nvSpPr>
          <p:cNvPr id="1048800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69548A"/>
                </a:solidFill>
              </a:defRPr>
            </a:pPr>
            <a:r>
              <a:rPr sz="1200" b="1">
                <a:solidFill>
                  <a:srgbClr val="69548A"/>
                </a:solidFill>
              </a:rPr>
              <a:t>个性化依据</a:t>
            </a:r>
            <a:endParaRPr sz="1200" b="1">
              <a:solidFill>
                <a:srgbClr val="69548A"/>
              </a:solidFill>
            </a:endParaRPr>
          </a:p>
        </p:txBody>
      </p:sp>
      <p:sp>
        <p:nvSpPr>
          <p:cNvPr id="1048801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sz="3150" b="1">
                <a:solidFill>
                  <a:srgbClr val="111820"/>
                </a:solidFill>
              </a:rPr>
              <a:t>3类数据</a:t>
            </a:r>
            <a:endParaRPr sz="3150" b="1">
              <a:solidFill>
                <a:srgbClr val="111820"/>
              </a:solidFill>
            </a:endParaRPr>
          </a:p>
        </p:txBody>
      </p:sp>
      <p:sp>
        <p:nvSpPr>
          <p:cNvPr id="1048802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个人档案 + 近期餐食 + 营养知识库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803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69548A"/>
          </a:solidFill>
          <a:ln w="0">
            <a:noFill/>
            <a:prstDash val="solid"/>
          </a:ln>
        </p:spPr>
      </p:sp>
      <p:sp>
        <p:nvSpPr>
          <p:cNvPr id="1048804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快速模式回答日常问题；专家模式结合长期记录给出更完整的解释与规划。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7" name=""/>
        <p:cNvGrpSpPr/>
        <p:nvPr/>
      </p:nvGrpSpPr>
      <p:grpSpPr/>
      <p:sp>
        <p:nvSpPr>
          <p:cNvPr id="1048808" name="矩形 21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10  云端证据 · 移动补录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809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lang="zh-CN" sz="3000" b="1">
                <a:solidFill>
                  <a:srgbClr val="111820"/>
                </a:solidFill>
                <a:ea typeface="宋体" panose="02010600030101010101" pitchFamily="2" charset="-122"/>
              </a:rPr>
              <a:t>除智能秤</a:t>
            </a:r>
            <a:r>
              <a:rPr sz="3000" b="1">
                <a:solidFill>
                  <a:srgbClr val="111820"/>
                </a:solidFill>
              </a:rPr>
              <a:t>自动记录之外，</a:t>
            </a:r>
            <a:r>
              <a:rPr lang="zh-CN" sz="3000" b="1">
                <a:solidFill>
                  <a:srgbClr val="111820"/>
                </a:solidFill>
                <a:ea typeface="宋体" panose="02010600030101010101" pitchFamily="2" charset="-122"/>
              </a:rPr>
              <a:t>软件</a:t>
            </a:r>
            <a:r>
              <a:rPr sz="3000" b="1">
                <a:solidFill>
                  <a:srgbClr val="111820"/>
                </a:solidFill>
              </a:rPr>
              <a:t>端仍覆盖外食与成品菜场景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810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11" name="矩形 18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812" name="矩形 19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813" name="矩形 20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11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814" name="圆角矩形 22"/>
          <p:cNvSpPr>
            <a:spLocks noGrp="1"/>
          </p:cNvSpPr>
          <p:nvPr/>
        </p:nvSpPr>
        <p:spPr>
          <a:xfrm>
            <a:off x="666750" y="1524000"/>
            <a:ext cx="7010400" cy="436245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9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534" y="1676400"/>
            <a:ext cx="1868782" cy="4057650"/>
          </a:xfrm>
          <a:prstGeom prst="roundRect">
            <a:avLst>
              <a:gd name="adj" fmla="val 1818"/>
            </a:avLst>
          </a:prstGeom>
        </p:spPr>
      </p:pic>
      <p:pic>
        <p:nvPicPr>
          <p:cNvPr id="2097160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84" y="1676400"/>
            <a:ext cx="1868782" cy="4057650"/>
          </a:xfrm>
          <a:prstGeom prst="roundRect">
            <a:avLst>
              <a:gd name="adj" fmla="val 1818"/>
            </a:avLst>
          </a:prstGeom>
        </p:spPr>
      </p:pic>
      <p:sp>
        <p:nvSpPr>
          <p:cNvPr id="1048815" name="矩形 25"/>
          <p:cNvSpPr>
            <a:spLocks noGrp="1"/>
          </p:cNvSpPr>
          <p:nvPr/>
        </p:nvSpPr>
        <p:spPr>
          <a:xfrm>
            <a:off x="8058150" y="17145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E44732"/>
                </a:solidFill>
              </a:defRPr>
            </a:pPr>
            <a:r>
              <a:rPr sz="1725" b="1">
                <a:solidFill>
                  <a:srgbClr val="E44732"/>
                </a:solidFill>
              </a:rPr>
              <a:t>01</a:t>
            </a:r>
            <a:endParaRPr sz="1725" b="1">
              <a:solidFill>
                <a:srgbClr val="E44732"/>
              </a:solidFill>
            </a:endParaRPr>
          </a:p>
        </p:txBody>
      </p:sp>
      <p:sp>
        <p:nvSpPr>
          <p:cNvPr id="1048816" name="矩形 26"/>
          <p:cNvSpPr>
            <a:spLocks noGrp="1"/>
          </p:cNvSpPr>
          <p:nvPr/>
        </p:nvSpPr>
        <p:spPr>
          <a:xfrm>
            <a:off x="8686800" y="1714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650" b="1">
                <a:solidFill>
                  <a:srgbClr val="111820"/>
                </a:solidFill>
              </a:defRPr>
            </a:pPr>
            <a:r>
              <a:rPr sz="1650" b="1">
                <a:solidFill>
                  <a:srgbClr val="111820"/>
                </a:solidFill>
              </a:rPr>
              <a:t>选择记录方式</a:t>
            </a:r>
            <a:endParaRPr sz="1650" b="1">
              <a:solidFill>
                <a:srgbClr val="111820"/>
              </a:solidFill>
            </a:endParaRPr>
          </a:p>
        </p:txBody>
      </p:sp>
      <p:sp>
        <p:nvSpPr>
          <p:cNvPr id="1048817" name="矩形 27"/>
          <p:cNvSpPr>
            <a:spLocks noGrp="1"/>
          </p:cNvSpPr>
          <p:nvPr/>
        </p:nvSpPr>
        <p:spPr>
          <a:xfrm>
            <a:off x="8058150" y="2152650"/>
            <a:ext cx="3028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食材识别与菜品识别并列，覆盖设备之外的主动记录需求。</a:t>
            </a:r>
            <a:endParaRPr sz="1275" b="0">
              <a:solidFill>
                <a:srgbClr val="66717A"/>
              </a:solidFill>
            </a:endParaRPr>
          </a:p>
        </p:txBody>
      </p:sp>
      <p:sp>
        <p:nvSpPr>
          <p:cNvPr id="1048818" name="矩形 28"/>
          <p:cNvSpPr>
            <a:spLocks noGrp="1"/>
          </p:cNvSpPr>
          <p:nvPr/>
        </p:nvSpPr>
        <p:spPr>
          <a:xfrm>
            <a:off x="8058150" y="3238500"/>
            <a:ext cx="3028950" cy="9525"/>
          </a:xfrm>
          <a:prstGeom prst="rect">
            <a:avLst/>
          </a:prstGeom>
          <a:solidFill>
            <a:srgbClr val="D8DEDA"/>
          </a:solidFill>
          <a:ln w="0">
            <a:noFill/>
            <a:prstDash val="solid"/>
          </a:ln>
        </p:spPr>
      </p:sp>
      <p:sp>
        <p:nvSpPr>
          <p:cNvPr id="1048819" name="矩形 29"/>
          <p:cNvSpPr>
            <a:spLocks noGrp="1"/>
          </p:cNvSpPr>
          <p:nvPr/>
        </p:nvSpPr>
        <p:spPr>
          <a:xfrm>
            <a:off x="805815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6865A"/>
                </a:solidFill>
              </a:defRPr>
            </a:pPr>
            <a:r>
              <a:rPr sz="1725" b="1">
                <a:solidFill>
                  <a:srgbClr val="16865A"/>
                </a:solidFill>
              </a:rPr>
              <a:t>02</a:t>
            </a:r>
            <a:endParaRPr sz="1725" b="1">
              <a:solidFill>
                <a:srgbClr val="16865A"/>
              </a:solidFill>
            </a:endParaRPr>
          </a:p>
        </p:txBody>
      </p:sp>
      <p:sp>
        <p:nvSpPr>
          <p:cNvPr id="1048820" name="矩形 30"/>
          <p:cNvSpPr>
            <a:spLocks noGrp="1"/>
          </p:cNvSpPr>
          <p:nvPr/>
        </p:nvSpPr>
        <p:spPr>
          <a:xfrm>
            <a:off x="8686800" y="3562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650" b="1">
                <a:solidFill>
                  <a:srgbClr val="111820"/>
                </a:solidFill>
              </a:defRPr>
            </a:pPr>
            <a:r>
              <a:rPr sz="1650" b="1">
                <a:solidFill>
                  <a:srgbClr val="111820"/>
                </a:solidFill>
              </a:rPr>
              <a:t>返回完整结果</a:t>
            </a:r>
            <a:endParaRPr sz="1650" b="1">
              <a:solidFill>
                <a:srgbClr val="111820"/>
              </a:solidFill>
            </a:endParaRPr>
          </a:p>
        </p:txBody>
      </p:sp>
      <p:sp>
        <p:nvSpPr>
          <p:cNvPr id="1048821" name="矩形 31"/>
          <p:cNvSpPr>
            <a:spLocks noGrp="1"/>
          </p:cNvSpPr>
          <p:nvPr/>
        </p:nvSpPr>
        <p:spPr>
          <a:xfrm>
            <a:off x="8058150" y="4000500"/>
            <a:ext cx="3028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识别菜品名称、估算重量并给出完整营养，最终进入同一份长期档案。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E"/>
        </a:solidFill>
        <a:effectLst/>
      </p:bgPr>
    </p:bg>
    <p:spTree>
      <p:nvGrpSpPr>
        <p:cNvPr id="50" name=""/>
        <p:cNvGrpSpPr/>
        <p:nvPr/>
      </p:nvGrpSpPr>
      <p:grpSpPr/>
      <p:pic>
        <p:nvPicPr>
          <p:cNvPr id="2097161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825" name="矩形 1"/>
          <p:cNvSpPr>
            <a:spLocks noGrp="1"/>
          </p:cNvSpPr>
          <p:nvPr/>
        </p:nvSpPr>
        <p:spPr>
          <a:xfrm>
            <a:off x="0" y="-27305"/>
            <a:ext cx="12192000" cy="6858000"/>
          </a:xfrm>
          <a:prstGeom prst="rect">
            <a:avLst/>
          </a:prstGeom>
          <a:solidFill>
            <a:srgbClr val="000000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048826" name="矩形 2"/>
          <p:cNvSpPr>
            <a:spLocks noGrp="1"/>
          </p:cNvSpPr>
          <p:nvPr/>
        </p:nvSpPr>
        <p:spPr>
          <a:xfrm>
            <a:off x="723900" y="7429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膳衡智枢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1048827" name="矩形 3"/>
          <p:cNvSpPr>
            <a:spLocks noGrp="1"/>
          </p:cNvSpPr>
          <p:nvPr/>
        </p:nvSpPr>
        <p:spPr>
          <a:xfrm>
            <a:off x="723900" y="1504950"/>
            <a:ext cx="609600" cy="47625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28" name="矩形 4"/>
          <p:cNvSpPr>
            <a:spLocks noGrp="1"/>
          </p:cNvSpPr>
          <p:nvPr/>
        </p:nvSpPr>
        <p:spPr>
          <a:xfrm>
            <a:off x="723900" y="1962150"/>
            <a:ext cx="7239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用物联网让健康管理无感化，</a:t>
            </a:r>
            <a:endParaRPr sz="3300" b="1">
              <a:solidFill>
                <a:srgbClr val="FFFFFF"/>
              </a:solidFill>
            </a:endParaRPr>
          </a:p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让坚持不再成为负担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048829" name="矩形 5"/>
          <p:cNvSpPr>
            <a:spLocks noGrp="1"/>
          </p:cNvSpPr>
          <p:nvPr/>
        </p:nvSpPr>
        <p:spPr>
          <a:xfrm>
            <a:off x="723900" y="4343400"/>
            <a:ext cx="47625" cy="8763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30" name="矩形 6"/>
          <p:cNvSpPr>
            <a:spLocks noGrp="1"/>
          </p:cNvSpPr>
          <p:nvPr/>
        </p:nvSpPr>
        <p:spPr>
          <a:xfrm>
            <a:off x="93345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物联感知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1" name="矩形 7"/>
          <p:cNvSpPr>
            <a:spLocks noGrp="1"/>
          </p:cNvSpPr>
          <p:nvPr/>
        </p:nvSpPr>
        <p:spPr>
          <a:xfrm>
            <a:off x="93345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放 · 称 · 选 · 得</a:t>
            </a:r>
            <a:endParaRPr sz="1275" b="0">
              <a:solidFill>
                <a:srgbClr val="D2DAD5"/>
              </a:solidFill>
            </a:endParaRPr>
          </a:p>
        </p:txBody>
      </p:sp>
      <p:sp>
        <p:nvSpPr>
          <p:cNvPr id="1048832" name="矩形 8"/>
          <p:cNvSpPr>
            <a:spLocks noGrp="1"/>
          </p:cNvSpPr>
          <p:nvPr/>
        </p:nvSpPr>
        <p:spPr>
          <a:xfrm>
            <a:off x="4057650" y="4343400"/>
            <a:ext cx="47625" cy="876300"/>
          </a:xfrm>
          <a:prstGeom prst="rect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833" name="矩形 9"/>
          <p:cNvSpPr>
            <a:spLocks noGrp="1"/>
          </p:cNvSpPr>
          <p:nvPr/>
        </p:nvSpPr>
        <p:spPr>
          <a:xfrm>
            <a:off x="426720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端云协同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4" name="矩形 10"/>
          <p:cNvSpPr>
            <a:spLocks noGrp="1"/>
          </p:cNvSpPr>
          <p:nvPr/>
        </p:nvSpPr>
        <p:spPr>
          <a:xfrm>
            <a:off x="426720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边缘即时 · 云端全面</a:t>
            </a:r>
            <a:endParaRPr sz="1275" b="0">
              <a:solidFill>
                <a:srgbClr val="D2DAD5"/>
              </a:solidFill>
            </a:endParaRPr>
          </a:p>
        </p:txBody>
      </p:sp>
      <p:sp>
        <p:nvSpPr>
          <p:cNvPr id="1048835" name="矩形 11"/>
          <p:cNvSpPr>
            <a:spLocks noGrp="1"/>
          </p:cNvSpPr>
          <p:nvPr/>
        </p:nvSpPr>
        <p:spPr>
          <a:xfrm>
            <a:off x="7391400" y="4343400"/>
            <a:ext cx="47625" cy="876300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836" name="矩形 12"/>
          <p:cNvSpPr>
            <a:spLocks noGrp="1"/>
          </p:cNvSpPr>
          <p:nvPr/>
        </p:nvSpPr>
        <p:spPr>
          <a:xfrm>
            <a:off x="760095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AI赋能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7" name="矩形 13"/>
          <p:cNvSpPr>
            <a:spLocks noGrp="1"/>
          </p:cNvSpPr>
          <p:nvPr/>
        </p:nvSpPr>
        <p:spPr>
          <a:xfrm>
            <a:off x="760095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数据沉淀 · 形成洞察</a:t>
            </a:r>
            <a:endParaRPr sz="1275" b="0">
              <a:solidFill>
                <a:srgbClr val="D2DAD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WPS 演示</Application>
  <PresentationFormat/>
  <Paragraphs>266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TK</cp:lastModifiedBy>
  <cp:revision>1</cp:revision>
  <dcterms:created xsi:type="dcterms:W3CDTF">2026-08-15T04:27:28Z</dcterms:created>
  <dcterms:modified xsi:type="dcterms:W3CDTF">2026-08-15T04:27:28Z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db8c54a004404b879f855076f9378741_23</vt:lpwstr>
  </property>
</Properties>
</file>